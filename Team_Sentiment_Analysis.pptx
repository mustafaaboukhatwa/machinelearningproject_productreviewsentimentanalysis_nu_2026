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  <p:sldMasterId id="2147483693" r:id="rId6"/>
    <p:sldMasterId id="2147483694" r:id="rId7"/>
    <p:sldMasterId id="214748369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</p:sldIdLst>
  <p:sldSz cy="5143500" cx="9144000"/>
  <p:notesSz cx="6858000" cy="9144000"/>
  <p:embeddedFontLst>
    <p:embeddedFont>
      <p:font typeface="Montserrat"/>
      <p:regular r:id="rId68"/>
      <p:bold r:id="rId69"/>
      <p:italic r:id="rId70"/>
      <p:boldItalic r:id="rId71"/>
    </p:embeddedFont>
    <p:embeddedFont>
      <p:font typeface="Noto Sans"/>
      <p:regular r:id="rId72"/>
      <p:bold r:id="rId73"/>
      <p:italic r:id="rId74"/>
      <p:boldItalic r:id="rId75"/>
    </p:embeddedFont>
    <p:embeddedFont>
      <p:font typeface="Montserrat Medium"/>
      <p:regular r:id="rId76"/>
      <p:bold r:id="rId77"/>
      <p:italic r:id="rId78"/>
      <p:boldItalic r:id="rId79"/>
    </p:embeddedFont>
    <p:embeddedFont>
      <p:font typeface="Montserrat ExtraLight"/>
      <p:regular r:id="rId80"/>
      <p:bold r:id="rId81"/>
      <p:italic r:id="rId82"/>
      <p:boldItalic r:id="rId83"/>
    </p:embeddedFont>
    <p:embeddedFont>
      <p:font typeface="Montserrat ExtraBold"/>
      <p:bold r:id="rId84"/>
      <p:boldItalic r:id="rId85"/>
    </p:embeddedFont>
    <p:embeddedFont>
      <p:font typeface="Open Sans"/>
      <p:regular r:id="rId86"/>
      <p:bold r:id="rId87"/>
      <p:italic r:id="rId88"/>
      <p:boldItalic r:id="rId8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5E56D4-E541-4135-832B-8C28300683B9}">
  <a:tblStyle styleId="{C45E56D4-E541-4135-832B-8C28300683B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56F817D-9E52-44E2-814B-2FA1B35C6D9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84" Type="http://schemas.openxmlformats.org/officeDocument/2006/relationships/font" Target="fonts/MontserratExtraBold-bold.fntdata"/><Relationship Id="rId83" Type="http://schemas.openxmlformats.org/officeDocument/2006/relationships/font" Target="fonts/MontserratExtraLight-boldItalic.fntdata"/><Relationship Id="rId42" Type="http://schemas.openxmlformats.org/officeDocument/2006/relationships/slide" Target="slides/slide33.xml"/><Relationship Id="rId86" Type="http://schemas.openxmlformats.org/officeDocument/2006/relationships/font" Target="fonts/OpenSans-regular.fntdata"/><Relationship Id="rId41" Type="http://schemas.openxmlformats.org/officeDocument/2006/relationships/slide" Target="slides/slide32.xml"/><Relationship Id="rId85" Type="http://schemas.openxmlformats.org/officeDocument/2006/relationships/font" Target="fonts/MontserratExtraBold-boldItalic.fntdata"/><Relationship Id="rId44" Type="http://schemas.openxmlformats.org/officeDocument/2006/relationships/slide" Target="slides/slide35.xml"/><Relationship Id="rId88" Type="http://schemas.openxmlformats.org/officeDocument/2006/relationships/font" Target="fonts/OpenSans-italic.fntdata"/><Relationship Id="rId43" Type="http://schemas.openxmlformats.org/officeDocument/2006/relationships/slide" Target="slides/slide34.xml"/><Relationship Id="rId87" Type="http://schemas.openxmlformats.org/officeDocument/2006/relationships/font" Target="fonts/OpenSans-bold.fntdata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89" Type="http://schemas.openxmlformats.org/officeDocument/2006/relationships/font" Target="fonts/OpenSans-boldItalic.fntdata"/><Relationship Id="rId80" Type="http://schemas.openxmlformats.org/officeDocument/2006/relationships/font" Target="fonts/MontserratExtraLight-regular.fntdata"/><Relationship Id="rId82" Type="http://schemas.openxmlformats.org/officeDocument/2006/relationships/font" Target="fonts/MontserratExtraLight-italic.fntdata"/><Relationship Id="rId81" Type="http://schemas.openxmlformats.org/officeDocument/2006/relationships/font" Target="fonts/MontserratExtraLight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font" Target="fonts/NotoSans-bold.fntdata"/><Relationship Id="rId72" Type="http://schemas.openxmlformats.org/officeDocument/2006/relationships/font" Target="fonts/NotoSans-regular.fntdata"/><Relationship Id="rId31" Type="http://schemas.openxmlformats.org/officeDocument/2006/relationships/slide" Target="slides/slide22.xml"/><Relationship Id="rId75" Type="http://schemas.openxmlformats.org/officeDocument/2006/relationships/font" Target="fonts/NotoSans-boldItalic.fntdata"/><Relationship Id="rId30" Type="http://schemas.openxmlformats.org/officeDocument/2006/relationships/slide" Target="slides/slide21.xml"/><Relationship Id="rId74" Type="http://schemas.openxmlformats.org/officeDocument/2006/relationships/font" Target="fonts/NotoSans-italic.fntdata"/><Relationship Id="rId33" Type="http://schemas.openxmlformats.org/officeDocument/2006/relationships/slide" Target="slides/slide24.xml"/><Relationship Id="rId77" Type="http://schemas.openxmlformats.org/officeDocument/2006/relationships/font" Target="fonts/MontserratMedium-bold.fntdata"/><Relationship Id="rId32" Type="http://schemas.openxmlformats.org/officeDocument/2006/relationships/slide" Target="slides/slide23.xml"/><Relationship Id="rId76" Type="http://schemas.openxmlformats.org/officeDocument/2006/relationships/font" Target="fonts/MontserratMedium-regular.fntdata"/><Relationship Id="rId35" Type="http://schemas.openxmlformats.org/officeDocument/2006/relationships/slide" Target="slides/slide26.xml"/><Relationship Id="rId79" Type="http://schemas.openxmlformats.org/officeDocument/2006/relationships/font" Target="fonts/MontserratMedium-boldItalic.fntdata"/><Relationship Id="rId34" Type="http://schemas.openxmlformats.org/officeDocument/2006/relationships/slide" Target="slides/slide25.xml"/><Relationship Id="rId78" Type="http://schemas.openxmlformats.org/officeDocument/2006/relationships/font" Target="fonts/MontserratMedium-italic.fntdata"/><Relationship Id="rId71" Type="http://schemas.openxmlformats.org/officeDocument/2006/relationships/font" Target="fonts/Montserrat-boldItalic.fntdata"/><Relationship Id="rId70" Type="http://schemas.openxmlformats.org/officeDocument/2006/relationships/font" Target="fonts/Montserrat-italic.fntdata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20" Type="http://schemas.openxmlformats.org/officeDocument/2006/relationships/slide" Target="slides/slide11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22" Type="http://schemas.openxmlformats.org/officeDocument/2006/relationships/slide" Target="slides/slide13.xml"/><Relationship Id="rId66" Type="http://schemas.openxmlformats.org/officeDocument/2006/relationships/slide" Target="slides/slide57.xml"/><Relationship Id="rId21" Type="http://schemas.openxmlformats.org/officeDocument/2006/relationships/slide" Target="slides/slide12.xml"/><Relationship Id="rId65" Type="http://schemas.openxmlformats.org/officeDocument/2006/relationships/slide" Target="slides/slide56.xml"/><Relationship Id="rId24" Type="http://schemas.openxmlformats.org/officeDocument/2006/relationships/slide" Target="slides/slide15.xml"/><Relationship Id="rId68" Type="http://schemas.openxmlformats.org/officeDocument/2006/relationships/font" Target="fonts/Montserrat-regular.fntdata"/><Relationship Id="rId23" Type="http://schemas.openxmlformats.org/officeDocument/2006/relationships/slide" Target="slides/slide14.xml"/><Relationship Id="rId67" Type="http://schemas.openxmlformats.org/officeDocument/2006/relationships/slide" Target="slides/slide58.xml"/><Relationship Id="rId60" Type="http://schemas.openxmlformats.org/officeDocument/2006/relationships/slide" Target="slides/slide5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69" Type="http://schemas.openxmlformats.org/officeDocument/2006/relationships/font" Target="fonts/Montserrat-bold.fntdata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slide" Target="slides/slide48.xml"/><Relationship Id="rId12" Type="http://schemas.openxmlformats.org/officeDocument/2006/relationships/slide" Target="slides/slide3.xml"/><Relationship Id="rId56" Type="http://schemas.openxmlformats.org/officeDocument/2006/relationships/slide" Target="slides/slide47.xml"/><Relationship Id="rId15" Type="http://schemas.openxmlformats.org/officeDocument/2006/relationships/slide" Target="slides/slide6.xml"/><Relationship Id="rId59" Type="http://schemas.openxmlformats.org/officeDocument/2006/relationships/slide" Target="slides/slide50.xml"/><Relationship Id="rId14" Type="http://schemas.openxmlformats.org/officeDocument/2006/relationships/slide" Target="slides/slide5.xml"/><Relationship Id="rId58" Type="http://schemas.openxmlformats.org/officeDocument/2006/relationships/slide" Target="slides/slide4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6350ad4a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b6350ad4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6350ad4a5_1_10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b6350ad4a5_1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6350ad4a5_1_10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b6350ad4a5_1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6350ad4a5_1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b6350ad4a5_1_1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6350ad4a5_1_13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b6350ad4a5_1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6350ad4a5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b6350ad4a5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6350ad4a5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b6350ad4a5_6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6350ad4a5_6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b6350ad4a5_6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6350ad4a5_6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b6350ad4a5_6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6350ad4a5_6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b6350ad4a5_6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6350ad4a5_6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b6350ad4a5_6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b6350ad4a5_6_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b6350ad4a5_6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b6350ad4a5_6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b6350ad4a5_6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6350ad4a5_6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b6350ad4a5_6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64dfedf59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b64dfedf5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64dfedf5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b64dfedf59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64dfedf5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b64dfedf59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b64dfedf5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b64dfedf59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6350ad4a5_1_14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3b6350ad4a5_1_1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6350ad4a5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b6350ad4a5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b6350ad4a5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b6350ad4a5_0_6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6350ad4a5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b6350ad4a5_0_6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6350ad4a5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b6350ad4a5_0_6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6350ad4a5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b6350ad4a5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b6350ad4a5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g3b6350ad4a5_0_4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b6350ad4a5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b6350ad4a5_0_5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b6350ad4a5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b6350ad4a5_0_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b6350ad4a5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b6350ad4a5_0_5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6350ad4a5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b6350ad4a5_0_6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b63c7a89c2_0_3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b63c7a89c2_0_3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b63c7a89c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b63c7a89c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b63c7a89c2_0_3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b63c7a89c2_0_3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b6db579545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b6db579545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b63c7a89c2_0_3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b63c7a89c2_0_3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b63c7a89c2_0_3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b63c7a89c2_0_3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b63c7a89c2_0_30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3b63c7a89c2_0_3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b63c7a89c2_0_3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b63c7a89c2_0_3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b63c7a89c2_0_3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b63c7a89c2_0_3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63c7a89c2_0_3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b63c7a89c2_0_3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b63c7a89c2_0_3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b63c7a89c2_0_3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b63c7a89c2_0_3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b63c7a89c2_0_3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b63c7a89c2_0_3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b63c7a89c2_0_3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b63c7a89c2_0_3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b63c7a89c2_0_3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b63c7a89c2_0_3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b63c7a89c2_0_3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b63c7a89c2_0_3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b63c7a89c2_0_3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b63c7a89c2_0_3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b63c7a89c2_0_3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b63c7a89c2_0_3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b63c7a89c2_0_3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b63c7a89c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b63c7a89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b699b87e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b699b87e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b699b87e9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b699b87e9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63c7a89c2_0_3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b63c7a89c2_0_3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TF-IDF (Term Frequency-Inverse Document Frequency), which treat words as independent tokens without capturing semantic relationships</a:t>
            </a:r>
            <a:endParaRPr/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TF-IDF was configured with a maximum of 3,000 features, producing sparse 3,004-dimensional vectors</a:t>
            </a:r>
            <a:endParaRPr/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Sentence-BERT embeddings were generated using the 'all-MiniLM-L6-v2' model, which produces 384-dimensional dense vectors</a:t>
            </a:r>
            <a:endParaRPr/>
          </a:p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pre-trained on over 1 billion sentence pairs and fine-tuned for semantic similarity tasks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b63c7a89c2_0_3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b63c7a89c2_0_3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b699b87e9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b699b87e9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6822205e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b6822205e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b699b87e9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b699b87e9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b699b87e9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b699b87e9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b6350ad4a5_6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g3b6350ad4a5_6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b6350ad4a5_6_4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g3b6350ad4a5_6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6360000" dist="28575">
              <a:schemeClr val="accent1">
                <a:alpha val="4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2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b="0" i="0" lang="en-GB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0" i="0" lang="en-GB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b="0" i="0" lang="en-GB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3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2" name="Google Shape;112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B8C8E"/>
              </a:buClr>
              <a:buSzPts val="1800"/>
              <a:buNone/>
              <a:defRPr sz="1800">
                <a:solidFill>
                  <a:srgbClr val="8B8C8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500"/>
              <a:buNone/>
              <a:defRPr sz="1500">
                <a:solidFill>
                  <a:srgbClr val="8B8C8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400"/>
              <a:buNone/>
              <a:defRPr sz="1400">
                <a:solidFill>
                  <a:srgbClr val="8B8C8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C8E"/>
              </a:buClr>
              <a:buSzPts val="1200"/>
              <a:buNone/>
              <a:defRPr sz="1200">
                <a:solidFill>
                  <a:srgbClr val="8B8C8E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7" name="Google Shape;137;p3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9" name="Google Shape;139;p3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55" name="Google Shape;155;p33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6" name="Google Shape;156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4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3" name="Google Shape;163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5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6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38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39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9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9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3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39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0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40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40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6" name="Google Shape;196;p40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40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40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40"/>
          <p:cNvSpPr txBox="1"/>
          <p:nvPr>
            <p:ph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40"/>
          <p:cNvSpPr txBox="1"/>
          <p:nvPr>
            <p:ph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1" name="Google Shape;201;p40"/>
          <p:cNvSpPr txBox="1"/>
          <p:nvPr>
            <p:ph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41"/>
          <p:cNvSpPr txBox="1"/>
          <p:nvPr>
            <p:ph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6360000" dist="28575">
              <a:schemeClr val="accent1">
                <a:alpha val="4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41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42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3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3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" name="Google Shape;212;p43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" name="Google Shape;213;p43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3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7" name="Google Shape;217;p44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44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5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45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6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46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5" name="Google Shape;225;p46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b="0" i="0" lang="en-GB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0" i="0" lang="en-GB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b="0" i="0" lang="en-GB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GB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47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7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b="0" i="0" sz="28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B8C8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b="0" i="0" sz="28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0" name="Google Shape;18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0.png"/><Relationship Id="rId4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Relationship Id="rId4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Relationship Id="rId4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5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Relationship Id="rId4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0.png"/><Relationship Id="rId4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Relationship Id="rId4" Type="http://schemas.openxmlformats.org/officeDocument/2006/relationships/image" Target="../media/image3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Relationship Id="rId4" Type="http://schemas.openxmlformats.org/officeDocument/2006/relationships/image" Target="../media/image47.png"/><Relationship Id="rId5" Type="http://schemas.openxmlformats.org/officeDocument/2006/relationships/image" Target="../media/image5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/>
          <p:nvPr>
            <p:ph type="ctrTitle"/>
          </p:nvPr>
        </p:nvSpPr>
        <p:spPr>
          <a:xfrm>
            <a:off x="1747479" y="3445989"/>
            <a:ext cx="3791700" cy="348600"/>
          </a:xfrm>
          <a:prstGeom prst="rect">
            <a:avLst/>
          </a:prstGeom>
          <a:noFill/>
          <a:ln>
            <a:noFill/>
          </a:ln>
          <a:effectLst>
            <a:outerShdw blurRad="75012" rotWithShape="0" algn="bl" dir="8460000" dist="14288">
              <a:srgbClr val="76A5AF">
                <a:alpha val="49800"/>
              </a:srgbClr>
            </a:outerShdw>
          </a:effectLst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en-GB" sz="1650">
                <a:latin typeface="Montserrat ExtraLight"/>
                <a:ea typeface="Montserrat ExtraLight"/>
                <a:cs typeface="Montserrat ExtraLight"/>
                <a:sym typeface="Montserrat ExtraLight"/>
              </a:rPr>
              <a:t>Comparison of the archetictures </a:t>
            </a:r>
            <a:endParaRPr b="0" sz="165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236" name="Google Shape;236;p49"/>
          <p:cNvCxnSpPr/>
          <p:nvPr/>
        </p:nvCxnSpPr>
        <p:spPr>
          <a:xfrm>
            <a:off x="2392959" y="3401745"/>
            <a:ext cx="2072100" cy="0"/>
          </a:xfrm>
          <a:prstGeom prst="straightConnector1">
            <a:avLst/>
          </a:prstGeom>
          <a:noFill/>
          <a:ln cap="flat" cmpd="sng" w="71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2864" rotWithShape="0" algn="bl" dir="5400000" dist="14288">
              <a:srgbClr val="FFFFFF">
                <a:alpha val="49800"/>
              </a:srgbClr>
            </a:outerShdw>
          </a:effectLst>
        </p:spPr>
      </p:cxnSp>
      <p:grpSp>
        <p:nvGrpSpPr>
          <p:cNvPr id="237" name="Google Shape;237;p49"/>
          <p:cNvGrpSpPr/>
          <p:nvPr/>
        </p:nvGrpSpPr>
        <p:grpSpPr>
          <a:xfrm>
            <a:off x="0" y="3267248"/>
            <a:ext cx="9144007" cy="1876516"/>
            <a:chOff x="0" y="5204122"/>
            <a:chExt cx="10506730" cy="1653901"/>
          </a:xfrm>
        </p:grpSpPr>
        <p:sp>
          <p:nvSpPr>
            <p:cNvPr id="238" name="Google Shape;238;p49"/>
            <p:cNvSpPr/>
            <p:nvPr/>
          </p:nvSpPr>
          <p:spPr>
            <a:xfrm>
              <a:off x="6304165" y="5204123"/>
              <a:ext cx="2102100" cy="1653900"/>
            </a:xfrm>
            <a:prstGeom prst="rect">
              <a:avLst/>
            </a:prstGeom>
            <a:solidFill>
              <a:srgbClr val="42AFB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49"/>
            <p:cNvSpPr/>
            <p:nvPr/>
          </p:nvSpPr>
          <p:spPr>
            <a:xfrm>
              <a:off x="8404630" y="5204123"/>
              <a:ext cx="2102100" cy="1653900"/>
            </a:xfrm>
            <a:prstGeom prst="rect">
              <a:avLst/>
            </a:prstGeom>
            <a:solidFill>
              <a:srgbClr val="074D67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49"/>
            <p:cNvSpPr/>
            <p:nvPr/>
          </p:nvSpPr>
          <p:spPr>
            <a:xfrm>
              <a:off x="0" y="5204123"/>
              <a:ext cx="2102100" cy="1653900"/>
            </a:xfrm>
            <a:prstGeom prst="rect">
              <a:avLst/>
            </a:prstGeom>
            <a:solidFill>
              <a:srgbClr val="CB1B4A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49"/>
            <p:cNvSpPr/>
            <p:nvPr/>
          </p:nvSpPr>
          <p:spPr>
            <a:xfrm>
              <a:off x="4203146" y="5204123"/>
              <a:ext cx="2102100" cy="1653900"/>
            </a:xfrm>
            <a:prstGeom prst="rect">
              <a:avLst/>
            </a:prstGeom>
            <a:solidFill>
              <a:srgbClr val="007A7D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49"/>
            <p:cNvSpPr/>
            <p:nvPr/>
          </p:nvSpPr>
          <p:spPr>
            <a:xfrm>
              <a:off x="2101573" y="5204122"/>
              <a:ext cx="2102100" cy="1653900"/>
            </a:xfrm>
            <a:prstGeom prst="rect">
              <a:avLst/>
            </a:prstGeom>
            <a:solidFill>
              <a:srgbClr val="FCB41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49"/>
          <p:cNvGrpSpPr/>
          <p:nvPr/>
        </p:nvGrpSpPr>
        <p:grpSpPr>
          <a:xfrm>
            <a:off x="465136" y="3663895"/>
            <a:ext cx="899319" cy="899101"/>
            <a:chOff x="2700338" y="8651875"/>
            <a:chExt cx="6545262" cy="6543675"/>
          </a:xfrm>
        </p:grpSpPr>
        <p:sp>
          <p:nvSpPr>
            <p:cNvPr id="244" name="Google Shape;244;p49"/>
            <p:cNvSpPr/>
            <p:nvPr/>
          </p:nvSpPr>
          <p:spPr>
            <a:xfrm>
              <a:off x="2700338" y="10820400"/>
              <a:ext cx="4376736" cy="4375150"/>
            </a:xfrm>
            <a:custGeom>
              <a:rect b="b" l="l" r="r" t="t"/>
              <a:pathLst>
                <a:path extrusionOk="0" h="1376" w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49"/>
            <p:cNvSpPr/>
            <p:nvPr/>
          </p:nvSpPr>
          <p:spPr>
            <a:xfrm>
              <a:off x="3762375" y="11879263"/>
              <a:ext cx="2255838" cy="2120900"/>
            </a:xfrm>
            <a:custGeom>
              <a:rect b="b" l="l" r="r" t="t"/>
              <a:pathLst>
                <a:path extrusionOk="0" h="667" w="709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49"/>
            <p:cNvSpPr/>
            <p:nvPr/>
          </p:nvSpPr>
          <p:spPr>
            <a:xfrm>
              <a:off x="5934075" y="8651875"/>
              <a:ext cx="3311525" cy="3309938"/>
            </a:xfrm>
            <a:custGeom>
              <a:rect b="b" l="l" r="r" t="t"/>
              <a:pathLst>
                <a:path extrusionOk="0" h="1041" w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49"/>
            <p:cNvSpPr/>
            <p:nvPr/>
          </p:nvSpPr>
          <p:spPr>
            <a:xfrm>
              <a:off x="7000875" y="9717088"/>
              <a:ext cx="1179512" cy="1179513"/>
            </a:xfrm>
            <a:custGeom>
              <a:rect b="b" l="l" r="r" t="t"/>
              <a:pathLst>
                <a:path extrusionOk="0" h="371" w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49"/>
          <p:cNvSpPr txBox="1"/>
          <p:nvPr/>
        </p:nvSpPr>
        <p:spPr>
          <a:xfrm>
            <a:off x="293104" y="4689108"/>
            <a:ext cx="1218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Noto Sans"/>
              <a:buNone/>
            </a:pPr>
            <a:r>
              <a:rPr b="0" i="0" lang="en-GB" sz="18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SERVICES</a:t>
            </a:r>
            <a:endParaRPr sz="1050"/>
          </a:p>
        </p:txBody>
      </p:sp>
      <p:grpSp>
        <p:nvGrpSpPr>
          <p:cNvPr id="249" name="Google Shape;249;p49"/>
          <p:cNvGrpSpPr/>
          <p:nvPr/>
        </p:nvGrpSpPr>
        <p:grpSpPr>
          <a:xfrm>
            <a:off x="2394193" y="3625468"/>
            <a:ext cx="719439" cy="877531"/>
            <a:chOff x="7931851" y="2464731"/>
            <a:chExt cx="1002842" cy="1223210"/>
          </a:xfrm>
        </p:grpSpPr>
        <p:sp>
          <p:nvSpPr>
            <p:cNvPr id="250" name="Google Shape;250;p49"/>
            <p:cNvSpPr/>
            <p:nvPr/>
          </p:nvSpPr>
          <p:spPr>
            <a:xfrm>
              <a:off x="8120806" y="2650831"/>
              <a:ext cx="623981" cy="1037110"/>
            </a:xfrm>
            <a:custGeom>
              <a:rect b="b" l="l" r="r" t="t"/>
              <a:pathLst>
                <a:path extrusionOk="0" h="1237" w="750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17F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49"/>
            <p:cNvSpPr/>
            <p:nvPr/>
          </p:nvSpPr>
          <p:spPr>
            <a:xfrm>
              <a:off x="8193151" y="2944496"/>
              <a:ext cx="44264" cy="75201"/>
            </a:xfrm>
            <a:custGeom>
              <a:rect b="b" l="l" r="r" t="t"/>
              <a:pathLst>
                <a:path extrusionOk="0" h="90" w="53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9"/>
            <p:cNvSpPr/>
            <p:nvPr/>
          </p:nvSpPr>
          <p:spPr>
            <a:xfrm>
              <a:off x="8215045" y="3044923"/>
              <a:ext cx="160397" cy="257493"/>
            </a:xfrm>
            <a:custGeom>
              <a:rect b="b" l="l" r="r" t="t"/>
              <a:pathLst>
                <a:path extrusionOk="0" h="307" w="193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49"/>
            <p:cNvSpPr/>
            <p:nvPr/>
          </p:nvSpPr>
          <p:spPr>
            <a:xfrm>
              <a:off x="8585816" y="3030644"/>
              <a:ext cx="71870" cy="89004"/>
            </a:xfrm>
            <a:custGeom>
              <a:rect b="b" l="l" r="r" t="t"/>
              <a:pathLst>
                <a:path extrusionOk="0" h="106" w="8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49"/>
            <p:cNvSpPr/>
            <p:nvPr/>
          </p:nvSpPr>
          <p:spPr>
            <a:xfrm>
              <a:off x="8413044" y="2724603"/>
              <a:ext cx="259397" cy="282719"/>
            </a:xfrm>
            <a:custGeom>
              <a:rect b="b" l="l" r="r" t="t"/>
              <a:pathLst>
                <a:path extrusionOk="0" h="337" w="312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49"/>
            <p:cNvSpPr/>
            <p:nvPr/>
          </p:nvSpPr>
          <p:spPr>
            <a:xfrm>
              <a:off x="8413044" y="2464731"/>
              <a:ext cx="39980" cy="152306"/>
            </a:xfrm>
            <a:custGeom>
              <a:rect b="b" l="l" r="r" t="t"/>
              <a:pathLst>
                <a:path extrusionOk="0" h="182" w="48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49"/>
            <p:cNvSpPr/>
            <p:nvPr/>
          </p:nvSpPr>
          <p:spPr>
            <a:xfrm>
              <a:off x="8169830" y="2526606"/>
              <a:ext cx="101379" cy="140883"/>
            </a:xfrm>
            <a:custGeom>
              <a:rect b="b" l="l" r="r" t="t"/>
              <a:pathLst>
                <a:path extrusionOk="0" h="168" w="122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49"/>
            <p:cNvSpPr/>
            <p:nvPr/>
          </p:nvSpPr>
          <p:spPr>
            <a:xfrm>
              <a:off x="8730507" y="3132975"/>
              <a:ext cx="142311" cy="99951"/>
            </a:xfrm>
            <a:custGeom>
              <a:rect b="b" l="l" r="r" t="t"/>
              <a:pathLst>
                <a:path extrusionOk="0" h="119" w="171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49"/>
            <p:cNvSpPr/>
            <p:nvPr/>
          </p:nvSpPr>
          <p:spPr>
            <a:xfrm>
              <a:off x="7993726" y="2704613"/>
              <a:ext cx="142311" cy="98999"/>
            </a:xfrm>
            <a:custGeom>
              <a:rect b="b" l="l" r="r" t="t"/>
              <a:pathLst>
                <a:path extrusionOk="0" h="118" w="171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49"/>
            <p:cNvSpPr/>
            <p:nvPr/>
          </p:nvSpPr>
          <p:spPr>
            <a:xfrm>
              <a:off x="8782387" y="2949255"/>
              <a:ext cx="152306" cy="40457"/>
            </a:xfrm>
            <a:custGeom>
              <a:rect b="b" l="l" r="r" t="t"/>
              <a:pathLst>
                <a:path extrusionOk="0" h="48" w="183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49"/>
            <p:cNvSpPr/>
            <p:nvPr/>
          </p:nvSpPr>
          <p:spPr>
            <a:xfrm>
              <a:off x="7931851" y="2949255"/>
              <a:ext cx="151355" cy="40457"/>
            </a:xfrm>
            <a:custGeom>
              <a:rect b="b" l="l" r="r" t="t"/>
              <a:pathLst>
                <a:path extrusionOk="0" h="48" w="182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49"/>
            <p:cNvSpPr/>
            <p:nvPr/>
          </p:nvSpPr>
          <p:spPr>
            <a:xfrm>
              <a:off x="8730507" y="2704613"/>
              <a:ext cx="142311" cy="98999"/>
            </a:xfrm>
            <a:custGeom>
              <a:rect b="b" l="l" r="r" t="t"/>
              <a:pathLst>
                <a:path extrusionOk="0" h="118" w="171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9"/>
            <p:cNvSpPr/>
            <p:nvPr/>
          </p:nvSpPr>
          <p:spPr>
            <a:xfrm>
              <a:off x="7993726" y="3132975"/>
              <a:ext cx="142311" cy="99951"/>
            </a:xfrm>
            <a:custGeom>
              <a:rect b="b" l="l" r="r" t="t"/>
              <a:pathLst>
                <a:path extrusionOk="0" h="119" w="171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49"/>
            <p:cNvSpPr/>
            <p:nvPr/>
          </p:nvSpPr>
          <p:spPr>
            <a:xfrm>
              <a:off x="8595336" y="2526606"/>
              <a:ext cx="101379" cy="140883"/>
            </a:xfrm>
            <a:custGeom>
              <a:rect b="b" l="l" r="r" t="t"/>
              <a:pathLst>
                <a:path extrusionOk="0" h="168" w="122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49"/>
          <p:cNvSpPr txBox="1"/>
          <p:nvPr/>
        </p:nvSpPr>
        <p:spPr>
          <a:xfrm>
            <a:off x="2117205" y="4689108"/>
            <a:ext cx="1218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Noto Sans"/>
              <a:buNone/>
            </a:pPr>
            <a:r>
              <a:rPr b="0" i="0" lang="en-GB" sz="18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IDEA</a:t>
            </a:r>
            <a:endParaRPr b="0" i="0" sz="1875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65" name="Google Shape;265;p49"/>
          <p:cNvGrpSpPr/>
          <p:nvPr/>
        </p:nvGrpSpPr>
        <p:grpSpPr>
          <a:xfrm>
            <a:off x="4169538" y="3670353"/>
            <a:ext cx="799831" cy="799637"/>
            <a:chOff x="2700338" y="8651875"/>
            <a:chExt cx="6545262" cy="6543675"/>
          </a:xfrm>
        </p:grpSpPr>
        <p:sp>
          <p:nvSpPr>
            <p:cNvPr id="266" name="Google Shape;266;p49"/>
            <p:cNvSpPr/>
            <p:nvPr/>
          </p:nvSpPr>
          <p:spPr>
            <a:xfrm>
              <a:off x="2700338" y="10820400"/>
              <a:ext cx="4376736" cy="4375150"/>
            </a:xfrm>
            <a:custGeom>
              <a:rect b="b" l="l" r="r" t="t"/>
              <a:pathLst>
                <a:path extrusionOk="0" h="1376" w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49"/>
            <p:cNvSpPr/>
            <p:nvPr/>
          </p:nvSpPr>
          <p:spPr>
            <a:xfrm>
              <a:off x="3762375" y="11879263"/>
              <a:ext cx="2255838" cy="2120900"/>
            </a:xfrm>
            <a:custGeom>
              <a:rect b="b" l="l" r="r" t="t"/>
              <a:pathLst>
                <a:path extrusionOk="0" h="667" w="709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49"/>
            <p:cNvSpPr/>
            <p:nvPr/>
          </p:nvSpPr>
          <p:spPr>
            <a:xfrm>
              <a:off x="5934075" y="8651875"/>
              <a:ext cx="3311525" cy="3309938"/>
            </a:xfrm>
            <a:custGeom>
              <a:rect b="b" l="l" r="r" t="t"/>
              <a:pathLst>
                <a:path extrusionOk="0" h="1041" w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49"/>
            <p:cNvSpPr/>
            <p:nvPr/>
          </p:nvSpPr>
          <p:spPr>
            <a:xfrm>
              <a:off x="7000875" y="9717088"/>
              <a:ext cx="1179512" cy="1179513"/>
            </a:xfrm>
            <a:custGeom>
              <a:rect b="b" l="l" r="r" t="t"/>
              <a:pathLst>
                <a:path extrusionOk="0" h="371" w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49"/>
          <p:cNvSpPr txBox="1"/>
          <p:nvPr/>
        </p:nvSpPr>
        <p:spPr>
          <a:xfrm>
            <a:off x="3917493" y="4689108"/>
            <a:ext cx="1218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Noto Sans"/>
              <a:buNone/>
            </a:pPr>
            <a:r>
              <a:rPr b="0" i="0" lang="en-GB" sz="18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TEAM</a:t>
            </a:r>
            <a:endParaRPr b="0" i="0" sz="1875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71" name="Google Shape;271;p49"/>
          <p:cNvGrpSpPr/>
          <p:nvPr/>
        </p:nvGrpSpPr>
        <p:grpSpPr>
          <a:xfrm>
            <a:off x="7763669" y="3581698"/>
            <a:ext cx="931128" cy="980451"/>
            <a:chOff x="5995988" y="2712903"/>
            <a:chExt cx="2457451" cy="2587625"/>
          </a:xfrm>
        </p:grpSpPr>
        <p:sp>
          <p:nvSpPr>
            <p:cNvPr id="272" name="Google Shape;272;p49"/>
            <p:cNvSpPr/>
            <p:nvPr/>
          </p:nvSpPr>
          <p:spPr>
            <a:xfrm>
              <a:off x="5995988" y="2712903"/>
              <a:ext cx="2457451" cy="2587625"/>
            </a:xfrm>
            <a:custGeom>
              <a:rect b="b" l="l" r="r" t="t"/>
              <a:pathLst>
                <a:path extrusionOk="0" h="812" w="771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49"/>
            <p:cNvSpPr/>
            <p:nvPr/>
          </p:nvSpPr>
          <p:spPr>
            <a:xfrm>
              <a:off x="6515101" y="3270116"/>
              <a:ext cx="1450975" cy="1435100"/>
            </a:xfrm>
            <a:custGeom>
              <a:rect b="b" l="l" r="r" t="t"/>
              <a:pathLst>
                <a:path extrusionOk="0" h="450" w="455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49"/>
            <p:cNvSpPr/>
            <p:nvPr/>
          </p:nvSpPr>
          <p:spPr>
            <a:xfrm>
              <a:off x="7040563" y="2874828"/>
              <a:ext cx="1381125" cy="1384301"/>
            </a:xfrm>
            <a:custGeom>
              <a:rect b="b" l="l" r="r" t="t"/>
              <a:pathLst>
                <a:path extrusionOk="0" h="434" w="433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49"/>
          <p:cNvSpPr txBox="1"/>
          <p:nvPr/>
        </p:nvSpPr>
        <p:spPr>
          <a:xfrm>
            <a:off x="5700563" y="4689108"/>
            <a:ext cx="14637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Noto Sans"/>
              <a:buNone/>
            </a:pPr>
            <a:r>
              <a:rPr lang="en-GB" sz="1875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Statement</a:t>
            </a:r>
            <a:endParaRPr b="0" i="0" sz="1875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76" name="Google Shape;276;p49"/>
          <p:cNvGrpSpPr/>
          <p:nvPr/>
        </p:nvGrpSpPr>
        <p:grpSpPr>
          <a:xfrm>
            <a:off x="5998587" y="3703266"/>
            <a:ext cx="986596" cy="784792"/>
            <a:chOff x="3665538" y="1665288"/>
            <a:chExt cx="3702051" cy="2944812"/>
          </a:xfrm>
        </p:grpSpPr>
        <p:sp>
          <p:nvSpPr>
            <p:cNvPr id="277" name="Google Shape;277;p49"/>
            <p:cNvSpPr/>
            <p:nvPr/>
          </p:nvSpPr>
          <p:spPr>
            <a:xfrm>
              <a:off x="4392613" y="3819525"/>
              <a:ext cx="1006474" cy="790575"/>
            </a:xfrm>
            <a:custGeom>
              <a:rect b="b" l="l" r="r" t="t"/>
              <a:pathLst>
                <a:path extrusionOk="0" h="628" w="806">
                  <a:moveTo>
                    <a:pt x="404" y="628"/>
                  </a:moveTo>
                  <a:cubicBezTo>
                    <a:pt x="349" y="618"/>
                    <a:pt x="316" y="582"/>
                    <a:pt x="285" y="538"/>
                  </a:cubicBezTo>
                  <a:cubicBezTo>
                    <a:pt x="196" y="409"/>
                    <a:pt x="104" y="282"/>
                    <a:pt x="13" y="154"/>
                  </a:cubicBezTo>
                  <a:cubicBezTo>
                    <a:pt x="9" y="148"/>
                    <a:pt x="5" y="143"/>
                    <a:pt x="0" y="135"/>
                  </a:cubicBezTo>
                  <a:cubicBezTo>
                    <a:pt x="27" y="126"/>
                    <a:pt x="52" y="119"/>
                    <a:pt x="77" y="111"/>
                  </a:cubicBezTo>
                  <a:cubicBezTo>
                    <a:pt x="188" y="75"/>
                    <a:pt x="299" y="41"/>
                    <a:pt x="410" y="5"/>
                  </a:cubicBezTo>
                  <a:cubicBezTo>
                    <a:pt x="425" y="0"/>
                    <a:pt x="433" y="2"/>
                    <a:pt x="442" y="15"/>
                  </a:cubicBezTo>
                  <a:cubicBezTo>
                    <a:pt x="501" y="104"/>
                    <a:pt x="561" y="191"/>
                    <a:pt x="620" y="279"/>
                  </a:cubicBezTo>
                  <a:cubicBezTo>
                    <a:pt x="654" y="329"/>
                    <a:pt x="699" y="366"/>
                    <a:pt x="756" y="389"/>
                  </a:cubicBezTo>
                  <a:cubicBezTo>
                    <a:pt x="790" y="403"/>
                    <a:pt x="806" y="428"/>
                    <a:pt x="804" y="464"/>
                  </a:cubicBezTo>
                  <a:cubicBezTo>
                    <a:pt x="803" y="495"/>
                    <a:pt x="783" y="519"/>
                    <a:pt x="750" y="530"/>
                  </a:cubicBezTo>
                  <a:cubicBezTo>
                    <a:pt x="655" y="560"/>
                    <a:pt x="560" y="590"/>
                    <a:pt x="465" y="620"/>
                  </a:cubicBezTo>
                  <a:cubicBezTo>
                    <a:pt x="455" y="623"/>
                    <a:pt x="446" y="625"/>
                    <a:pt x="436" y="628"/>
                  </a:cubicBezTo>
                  <a:cubicBezTo>
                    <a:pt x="425" y="628"/>
                    <a:pt x="415" y="628"/>
                    <a:pt x="404" y="6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49"/>
            <p:cNvSpPr/>
            <p:nvPr/>
          </p:nvSpPr>
          <p:spPr>
            <a:xfrm>
              <a:off x="4730750" y="1665288"/>
              <a:ext cx="1763714" cy="2030412"/>
            </a:xfrm>
            <a:custGeom>
              <a:rect b="b" l="l" r="r" t="t"/>
              <a:pathLst>
                <a:path extrusionOk="0" h="1613" w="1413">
                  <a:moveTo>
                    <a:pt x="0" y="723"/>
                  </a:moveTo>
                  <a:cubicBezTo>
                    <a:pt x="359" y="555"/>
                    <a:pt x="648" y="300"/>
                    <a:pt x="906" y="0"/>
                  </a:cubicBezTo>
                  <a:cubicBezTo>
                    <a:pt x="1075" y="539"/>
                    <a:pt x="1244" y="1074"/>
                    <a:pt x="1413" y="1613"/>
                  </a:cubicBezTo>
                  <a:cubicBezTo>
                    <a:pt x="1031" y="1516"/>
                    <a:pt x="648" y="1473"/>
                    <a:pt x="257" y="1540"/>
                  </a:cubicBezTo>
                  <a:cubicBezTo>
                    <a:pt x="171" y="1267"/>
                    <a:pt x="86" y="996"/>
                    <a:pt x="0" y="7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49"/>
            <p:cNvSpPr/>
            <p:nvPr/>
          </p:nvSpPr>
          <p:spPr>
            <a:xfrm>
              <a:off x="3665538" y="2630488"/>
              <a:ext cx="1211263" cy="1266826"/>
            </a:xfrm>
            <a:custGeom>
              <a:rect b="b" l="l" r="r" t="t"/>
              <a:pathLst>
                <a:path extrusionOk="0" h="1006" w="970">
                  <a:moveTo>
                    <a:pt x="713" y="0"/>
                  </a:moveTo>
                  <a:cubicBezTo>
                    <a:pt x="799" y="274"/>
                    <a:pt x="884" y="544"/>
                    <a:pt x="970" y="817"/>
                  </a:cubicBezTo>
                  <a:cubicBezTo>
                    <a:pt x="920" y="832"/>
                    <a:pt x="873" y="847"/>
                    <a:pt x="825" y="862"/>
                  </a:cubicBezTo>
                  <a:cubicBezTo>
                    <a:pt x="731" y="891"/>
                    <a:pt x="638" y="926"/>
                    <a:pt x="541" y="948"/>
                  </a:cubicBezTo>
                  <a:cubicBezTo>
                    <a:pt x="297" y="1006"/>
                    <a:pt x="58" y="835"/>
                    <a:pt x="26" y="587"/>
                  </a:cubicBezTo>
                  <a:cubicBezTo>
                    <a:pt x="0" y="381"/>
                    <a:pt x="121" y="190"/>
                    <a:pt x="318" y="125"/>
                  </a:cubicBezTo>
                  <a:cubicBezTo>
                    <a:pt x="449" y="83"/>
                    <a:pt x="580" y="42"/>
                    <a:pt x="7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9"/>
            <p:cNvSpPr/>
            <p:nvPr/>
          </p:nvSpPr>
          <p:spPr>
            <a:xfrm>
              <a:off x="6461125" y="1676400"/>
              <a:ext cx="906464" cy="1601788"/>
            </a:xfrm>
            <a:custGeom>
              <a:rect b="b" l="l" r="r" t="t"/>
              <a:pathLst>
                <a:path extrusionOk="0" h="1272" w="726">
                  <a:moveTo>
                    <a:pt x="487" y="1272"/>
                  </a:moveTo>
                  <a:cubicBezTo>
                    <a:pt x="432" y="1243"/>
                    <a:pt x="378" y="1215"/>
                    <a:pt x="322" y="1185"/>
                  </a:cubicBezTo>
                  <a:cubicBezTo>
                    <a:pt x="414" y="999"/>
                    <a:pt x="434" y="807"/>
                    <a:pt x="371" y="609"/>
                  </a:cubicBezTo>
                  <a:cubicBezTo>
                    <a:pt x="309" y="412"/>
                    <a:pt x="183" y="266"/>
                    <a:pt x="0" y="166"/>
                  </a:cubicBezTo>
                  <a:cubicBezTo>
                    <a:pt x="29" y="110"/>
                    <a:pt x="58" y="55"/>
                    <a:pt x="87" y="0"/>
                  </a:cubicBezTo>
                  <a:cubicBezTo>
                    <a:pt x="559" y="240"/>
                    <a:pt x="726" y="828"/>
                    <a:pt x="487" y="12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49"/>
            <p:cNvSpPr/>
            <p:nvPr/>
          </p:nvSpPr>
          <p:spPr>
            <a:xfrm>
              <a:off x="6276975" y="2039938"/>
              <a:ext cx="639764" cy="1049336"/>
            </a:xfrm>
            <a:custGeom>
              <a:rect b="b" l="l" r="r" t="t"/>
              <a:pathLst>
                <a:path extrusionOk="0" h="833" w="513">
                  <a:moveTo>
                    <a:pt x="185" y="748"/>
                  </a:moveTo>
                  <a:cubicBezTo>
                    <a:pt x="239" y="639"/>
                    <a:pt x="250" y="529"/>
                    <a:pt x="214" y="416"/>
                  </a:cubicBezTo>
                  <a:cubicBezTo>
                    <a:pt x="178" y="303"/>
                    <a:pt x="106" y="219"/>
                    <a:pt x="0" y="161"/>
                  </a:cubicBezTo>
                  <a:cubicBezTo>
                    <a:pt x="29" y="107"/>
                    <a:pt x="56" y="53"/>
                    <a:pt x="84" y="0"/>
                  </a:cubicBezTo>
                  <a:cubicBezTo>
                    <a:pt x="375" y="139"/>
                    <a:pt x="513" y="525"/>
                    <a:pt x="347" y="833"/>
                  </a:cubicBezTo>
                  <a:cubicBezTo>
                    <a:pt x="294" y="805"/>
                    <a:pt x="241" y="777"/>
                    <a:pt x="185" y="7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1350"/>
                <a:buFont typeface="Calibri"/>
                <a:buNone/>
              </a:pPr>
              <a:r>
                <a:t/>
              </a:r>
              <a:endParaRPr b="0" i="0" sz="135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49"/>
          <p:cNvSpPr txBox="1"/>
          <p:nvPr/>
        </p:nvSpPr>
        <p:spPr>
          <a:xfrm>
            <a:off x="7522804" y="4683912"/>
            <a:ext cx="14637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Noto Sans"/>
              <a:buNone/>
            </a:pPr>
            <a:r>
              <a:rPr b="0" i="0" lang="en-GB" sz="18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GOAL</a:t>
            </a:r>
            <a:endParaRPr b="0" i="0" sz="1875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49"/>
          <p:cNvSpPr txBox="1"/>
          <p:nvPr/>
        </p:nvSpPr>
        <p:spPr>
          <a:xfrm>
            <a:off x="1456950" y="1252875"/>
            <a:ext cx="6230100" cy="5922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8760000" dist="19050">
              <a:srgbClr val="76A5AF">
                <a:alpha val="498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27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Machine Learning:</a:t>
            </a:r>
            <a:endParaRPr sz="27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Product Review Sentiment Analysis</a:t>
            </a:r>
            <a:endParaRPr sz="3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4" name="Google Shape;284;p49"/>
          <p:cNvSpPr txBox="1"/>
          <p:nvPr/>
        </p:nvSpPr>
        <p:spPr>
          <a:xfrm>
            <a:off x="2044190" y="1887951"/>
            <a:ext cx="5055600" cy="464700"/>
          </a:xfrm>
          <a:prstGeom prst="rect">
            <a:avLst/>
          </a:prstGeom>
          <a:noFill/>
          <a:ln>
            <a:noFill/>
          </a:ln>
          <a:effectLst>
            <a:outerShdw blurRad="100013" rotWithShape="0" algn="bl" dir="8460000" dist="19050">
              <a:srgbClr val="76A5AF">
                <a:alpha val="498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Comparative Study of Classification</a:t>
            </a:r>
            <a:endParaRPr sz="2200">
              <a:solidFill>
                <a:schemeClr val="lt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285" name="Google Shape;285;p49"/>
          <p:cNvCxnSpPr/>
          <p:nvPr/>
        </p:nvCxnSpPr>
        <p:spPr>
          <a:xfrm>
            <a:off x="3145000" y="24573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286" name="Google Shape;286;p49"/>
          <p:cNvSpPr txBox="1"/>
          <p:nvPr/>
        </p:nvSpPr>
        <p:spPr>
          <a:xfrm>
            <a:off x="1015663" y="2578763"/>
            <a:ext cx="7107600" cy="357900"/>
          </a:xfrm>
          <a:prstGeom prst="rect">
            <a:avLst/>
          </a:prstGeom>
          <a:noFill/>
          <a:ln>
            <a:noFill/>
          </a:ln>
          <a:effectLst>
            <a:outerShdw blurRad="100013" rotWithShape="0" algn="bl" dir="8460000" dist="19050">
              <a:srgbClr val="76A5AF">
                <a:alpha val="498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By: Mustafa Abou Khatwa, Noha Ismail, Amira ElShehaby, Mohamed Mourad, Ahmed Gomaa</a:t>
            </a:r>
            <a:endParaRPr sz="1800">
              <a:solidFill>
                <a:schemeClr val="lt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Contents:</a:t>
            </a:r>
            <a:endParaRPr/>
          </a:p>
        </p:txBody>
      </p:sp>
      <p:cxnSp>
        <p:nvCxnSpPr>
          <p:cNvPr id="292" name="Google Shape;292;p5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293" name="Google Shape;293;p50"/>
          <p:cNvSpPr txBox="1"/>
          <p:nvPr>
            <p:ph type="title"/>
          </p:nvPr>
        </p:nvSpPr>
        <p:spPr>
          <a:xfrm>
            <a:off x="1740422" y="3824454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Proposed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Solutions</a:t>
            </a:r>
            <a:endParaRPr/>
          </a:p>
        </p:txBody>
      </p:sp>
      <p:sp>
        <p:nvSpPr>
          <p:cNvPr id="294" name="Google Shape;294;p50"/>
          <p:cNvSpPr txBox="1"/>
          <p:nvPr>
            <p:ph idx="2" type="title"/>
          </p:nvPr>
        </p:nvSpPr>
        <p:spPr>
          <a:xfrm>
            <a:off x="3554500" y="27784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295" name="Google Shape;295;p50"/>
          <p:cNvSpPr txBox="1"/>
          <p:nvPr>
            <p:ph idx="5" type="title"/>
          </p:nvPr>
        </p:nvSpPr>
        <p:spPr>
          <a:xfrm>
            <a:off x="73900" y="2737536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Problem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Description</a:t>
            </a:r>
            <a:endParaRPr/>
          </a:p>
        </p:txBody>
      </p:sp>
      <p:sp>
        <p:nvSpPr>
          <p:cNvPr id="296" name="Google Shape;296;p50"/>
          <p:cNvSpPr/>
          <p:nvPr/>
        </p:nvSpPr>
        <p:spPr>
          <a:xfrm>
            <a:off x="765103" y="1856711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0"/>
          <p:cNvSpPr/>
          <p:nvPr/>
        </p:nvSpPr>
        <p:spPr>
          <a:xfrm>
            <a:off x="2431622" y="2943629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0"/>
          <p:cNvSpPr/>
          <p:nvPr/>
        </p:nvSpPr>
        <p:spPr>
          <a:xfrm>
            <a:off x="4245697" y="18976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0"/>
          <p:cNvSpPr/>
          <p:nvPr/>
        </p:nvSpPr>
        <p:spPr>
          <a:xfrm>
            <a:off x="4376049" y="2034950"/>
            <a:ext cx="423884" cy="409986"/>
          </a:xfrm>
          <a:custGeom>
            <a:rect b="b" l="l" r="r" t="t"/>
            <a:pathLst>
              <a:path extrusionOk="0" h="11033" w="11407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50"/>
          <p:cNvGrpSpPr/>
          <p:nvPr/>
        </p:nvGrpSpPr>
        <p:grpSpPr>
          <a:xfrm>
            <a:off x="2610863" y="3073986"/>
            <a:ext cx="326106" cy="423908"/>
            <a:chOff x="3990517" y="3354173"/>
            <a:chExt cx="279559" cy="363402"/>
          </a:xfrm>
        </p:grpSpPr>
        <p:sp>
          <p:nvSpPr>
            <p:cNvPr id="301" name="Google Shape;301;p50"/>
            <p:cNvSpPr/>
            <p:nvPr/>
          </p:nvSpPr>
          <p:spPr>
            <a:xfrm>
              <a:off x="3990517" y="3354173"/>
              <a:ext cx="279559" cy="363402"/>
            </a:xfrm>
            <a:custGeom>
              <a:rect b="b" l="l" r="r" t="t"/>
              <a:pathLst>
                <a:path extrusionOk="0" h="11408" w="8776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50"/>
            <p:cNvSpPr/>
            <p:nvPr/>
          </p:nvSpPr>
          <p:spPr>
            <a:xfrm>
              <a:off x="4102009" y="3418680"/>
              <a:ext cx="36824" cy="37175"/>
            </a:xfrm>
            <a:custGeom>
              <a:rect b="b" l="l" r="r" t="t"/>
              <a:pathLst>
                <a:path extrusionOk="0" h="1167" w="1156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50"/>
            <p:cNvSpPr/>
            <p:nvPr/>
          </p:nvSpPr>
          <p:spPr>
            <a:xfrm>
              <a:off x="4083820" y="3615129"/>
              <a:ext cx="37175" cy="36824"/>
            </a:xfrm>
            <a:custGeom>
              <a:rect b="b" l="l" r="r" t="t"/>
              <a:pathLst>
                <a:path extrusionOk="0" h="1156" w="1167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50"/>
          <p:cNvGrpSpPr/>
          <p:nvPr/>
        </p:nvGrpSpPr>
        <p:grpSpPr>
          <a:xfrm>
            <a:off x="886070" y="1985521"/>
            <a:ext cx="442673" cy="426992"/>
            <a:chOff x="1284212" y="1963766"/>
            <a:chExt cx="379489" cy="366046"/>
          </a:xfrm>
        </p:grpSpPr>
        <p:sp>
          <p:nvSpPr>
            <p:cNvPr id="305" name="Google Shape;305;p50"/>
            <p:cNvSpPr/>
            <p:nvPr/>
          </p:nvSpPr>
          <p:spPr>
            <a:xfrm>
              <a:off x="1436861" y="2112975"/>
              <a:ext cx="69444" cy="68902"/>
            </a:xfrm>
            <a:custGeom>
              <a:rect b="b" l="l" r="r" t="t"/>
              <a:pathLst>
                <a:path extrusionOk="0" h="2163" w="218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0"/>
            <p:cNvSpPr/>
            <p:nvPr/>
          </p:nvSpPr>
          <p:spPr>
            <a:xfrm>
              <a:off x="1284212" y="1963766"/>
              <a:ext cx="379489" cy="366046"/>
            </a:xfrm>
            <a:custGeom>
              <a:rect b="b" l="l" r="r" t="t"/>
              <a:pathLst>
                <a:path extrusionOk="0" h="11491" w="11913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p50"/>
          <p:cNvSpPr txBox="1"/>
          <p:nvPr/>
        </p:nvSpPr>
        <p:spPr>
          <a:xfrm>
            <a:off x="5336578" y="3824454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en-GB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Results</a:t>
            </a:r>
            <a:endParaRPr/>
          </a:p>
        </p:txBody>
      </p:sp>
      <p:sp>
        <p:nvSpPr>
          <p:cNvPr id="308" name="Google Shape;308;p50"/>
          <p:cNvSpPr/>
          <p:nvPr/>
        </p:nvSpPr>
        <p:spPr>
          <a:xfrm>
            <a:off x="6027775" y="2943629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0"/>
          <p:cNvSpPr txBox="1"/>
          <p:nvPr/>
        </p:nvSpPr>
        <p:spPr>
          <a:xfrm>
            <a:off x="6966840" y="27784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en-GB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Validation</a:t>
            </a:r>
            <a:endParaRPr/>
          </a:p>
        </p:txBody>
      </p:sp>
      <p:sp>
        <p:nvSpPr>
          <p:cNvPr id="310" name="Google Shape;310;p50"/>
          <p:cNvSpPr/>
          <p:nvPr/>
        </p:nvSpPr>
        <p:spPr>
          <a:xfrm>
            <a:off x="7658037" y="18976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032" y="3017811"/>
            <a:ext cx="684600" cy="53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0"/>
          <p:cNvPicPr preferRelativeResize="0"/>
          <p:nvPr/>
        </p:nvPicPr>
        <p:blipFill rotWithShape="1">
          <a:blip r:embed="rId4">
            <a:alphaModFix/>
          </a:blip>
          <a:srcRect b="18679" l="0" r="0" t="0"/>
          <a:stretch/>
        </p:blipFill>
        <p:spPr>
          <a:xfrm>
            <a:off x="7600713" y="1856700"/>
            <a:ext cx="799225" cy="6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3762669" y="3177750"/>
            <a:ext cx="4747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Introduction</a:t>
            </a:r>
            <a:endParaRPr/>
          </a:p>
        </p:txBody>
      </p:sp>
      <p:cxnSp>
        <p:nvCxnSpPr>
          <p:cNvPr id="318" name="Google Shape;318;p51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319" name="Google Shape;319;p51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GB"/>
              <a:t>Problem Statement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52"/>
          <p:cNvGrpSpPr/>
          <p:nvPr/>
        </p:nvGrpSpPr>
        <p:grpSpPr>
          <a:xfrm>
            <a:off x="319997" y="-14"/>
            <a:ext cx="7445065" cy="5143460"/>
            <a:chOff x="4549775" y="1466850"/>
            <a:chExt cx="3092446" cy="3922712"/>
          </a:xfrm>
        </p:grpSpPr>
        <p:sp>
          <p:nvSpPr>
            <p:cNvPr id="325" name="Google Shape;325;p52"/>
            <p:cNvSpPr/>
            <p:nvPr/>
          </p:nvSpPr>
          <p:spPr>
            <a:xfrm>
              <a:off x="4549775" y="1466850"/>
              <a:ext cx="3092446" cy="3922712"/>
            </a:xfrm>
            <a:custGeom>
              <a:rect b="b" l="l" r="r" t="t"/>
              <a:pathLst>
                <a:path extrusionOk="0" h="2798" w="4410">
                  <a:moveTo>
                    <a:pt x="1387" y="2798"/>
                  </a:moveTo>
                  <a:cubicBezTo>
                    <a:pt x="1590" y="2615"/>
                    <a:pt x="2359" y="2534"/>
                    <a:pt x="2876" y="2392"/>
                  </a:cubicBezTo>
                  <a:cubicBezTo>
                    <a:pt x="3505" y="2220"/>
                    <a:pt x="3693" y="2022"/>
                    <a:pt x="3712" y="1825"/>
                  </a:cubicBezTo>
                  <a:cubicBezTo>
                    <a:pt x="3765" y="1299"/>
                    <a:pt x="2623" y="1305"/>
                    <a:pt x="2634" y="1144"/>
                  </a:cubicBezTo>
                  <a:cubicBezTo>
                    <a:pt x="2644" y="1007"/>
                    <a:pt x="3129" y="948"/>
                    <a:pt x="3364" y="921"/>
                  </a:cubicBezTo>
                  <a:cubicBezTo>
                    <a:pt x="3739" y="879"/>
                    <a:pt x="4086" y="784"/>
                    <a:pt x="4107" y="631"/>
                  </a:cubicBezTo>
                  <a:cubicBezTo>
                    <a:pt x="4143" y="377"/>
                    <a:pt x="3608" y="403"/>
                    <a:pt x="3500" y="372"/>
                  </a:cubicBezTo>
                  <a:cubicBezTo>
                    <a:pt x="3181" y="282"/>
                    <a:pt x="3396" y="234"/>
                    <a:pt x="3802" y="184"/>
                  </a:cubicBezTo>
                  <a:cubicBezTo>
                    <a:pt x="4172" y="138"/>
                    <a:pt x="4365" y="106"/>
                    <a:pt x="4410" y="0"/>
                  </a:cubicBezTo>
                  <a:cubicBezTo>
                    <a:pt x="4066" y="0"/>
                    <a:pt x="4066" y="0"/>
                    <a:pt x="4066" y="0"/>
                  </a:cubicBezTo>
                  <a:cubicBezTo>
                    <a:pt x="3945" y="129"/>
                    <a:pt x="2829" y="68"/>
                    <a:pt x="2835" y="306"/>
                  </a:cubicBezTo>
                  <a:cubicBezTo>
                    <a:pt x="2839" y="481"/>
                    <a:pt x="3599" y="506"/>
                    <a:pt x="3594" y="621"/>
                  </a:cubicBezTo>
                  <a:cubicBezTo>
                    <a:pt x="3587" y="771"/>
                    <a:pt x="2144" y="733"/>
                    <a:pt x="1949" y="1104"/>
                  </a:cubicBezTo>
                  <a:cubicBezTo>
                    <a:pt x="1934" y="1133"/>
                    <a:pt x="1938" y="1156"/>
                    <a:pt x="1939" y="1191"/>
                  </a:cubicBezTo>
                  <a:cubicBezTo>
                    <a:pt x="1952" y="1468"/>
                    <a:pt x="2882" y="1583"/>
                    <a:pt x="2829" y="1822"/>
                  </a:cubicBezTo>
                  <a:cubicBezTo>
                    <a:pt x="2783" y="2029"/>
                    <a:pt x="2384" y="1941"/>
                    <a:pt x="1136" y="2243"/>
                  </a:cubicBezTo>
                  <a:cubicBezTo>
                    <a:pt x="939" y="2291"/>
                    <a:pt x="246" y="2452"/>
                    <a:pt x="0" y="2685"/>
                  </a:cubicBezTo>
                  <a:cubicBezTo>
                    <a:pt x="0" y="2798"/>
                    <a:pt x="0" y="2798"/>
                    <a:pt x="0" y="2798"/>
                  </a:cubicBezTo>
                  <a:lnTo>
                    <a:pt x="1387" y="279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52"/>
            <p:cNvSpPr/>
            <p:nvPr/>
          </p:nvSpPr>
          <p:spPr>
            <a:xfrm>
              <a:off x="4549775" y="1466850"/>
              <a:ext cx="3081335" cy="3763961"/>
            </a:xfrm>
            <a:custGeom>
              <a:rect b="b" l="l" r="r" t="t"/>
              <a:pathLst>
                <a:path extrusionOk="0" h="2685" w="4395">
                  <a:moveTo>
                    <a:pt x="1387" y="2685"/>
                  </a:moveTo>
                  <a:cubicBezTo>
                    <a:pt x="1590" y="2508"/>
                    <a:pt x="2359" y="2429"/>
                    <a:pt x="2876" y="2292"/>
                  </a:cubicBezTo>
                  <a:cubicBezTo>
                    <a:pt x="3505" y="2125"/>
                    <a:pt x="3714" y="1934"/>
                    <a:pt x="3712" y="1742"/>
                  </a:cubicBezTo>
                  <a:cubicBezTo>
                    <a:pt x="3708" y="1359"/>
                    <a:pt x="2623" y="1238"/>
                    <a:pt x="2634" y="1082"/>
                  </a:cubicBezTo>
                  <a:cubicBezTo>
                    <a:pt x="2644" y="949"/>
                    <a:pt x="3129" y="892"/>
                    <a:pt x="3364" y="866"/>
                  </a:cubicBezTo>
                  <a:cubicBezTo>
                    <a:pt x="3739" y="825"/>
                    <a:pt x="4110" y="735"/>
                    <a:pt x="4107" y="585"/>
                  </a:cubicBezTo>
                  <a:cubicBezTo>
                    <a:pt x="4104" y="397"/>
                    <a:pt x="3608" y="364"/>
                    <a:pt x="3500" y="334"/>
                  </a:cubicBezTo>
                  <a:cubicBezTo>
                    <a:pt x="3181" y="247"/>
                    <a:pt x="3396" y="202"/>
                    <a:pt x="3802" y="152"/>
                  </a:cubicBezTo>
                  <a:cubicBezTo>
                    <a:pt x="4266" y="94"/>
                    <a:pt x="4362" y="62"/>
                    <a:pt x="4395" y="0"/>
                  </a:cubicBezTo>
                  <a:cubicBezTo>
                    <a:pt x="4033" y="0"/>
                    <a:pt x="4033" y="0"/>
                    <a:pt x="4033" y="0"/>
                  </a:cubicBezTo>
                  <a:cubicBezTo>
                    <a:pt x="3907" y="77"/>
                    <a:pt x="2921" y="89"/>
                    <a:pt x="2840" y="270"/>
                  </a:cubicBezTo>
                  <a:cubicBezTo>
                    <a:pt x="2773" y="419"/>
                    <a:pt x="3599" y="464"/>
                    <a:pt x="3594" y="575"/>
                  </a:cubicBezTo>
                  <a:cubicBezTo>
                    <a:pt x="3585" y="751"/>
                    <a:pt x="2014" y="702"/>
                    <a:pt x="1940" y="1122"/>
                  </a:cubicBezTo>
                  <a:cubicBezTo>
                    <a:pt x="1893" y="1387"/>
                    <a:pt x="2882" y="1508"/>
                    <a:pt x="2829" y="1739"/>
                  </a:cubicBezTo>
                  <a:cubicBezTo>
                    <a:pt x="2783" y="1940"/>
                    <a:pt x="2384" y="1854"/>
                    <a:pt x="1136" y="2147"/>
                  </a:cubicBezTo>
                  <a:cubicBezTo>
                    <a:pt x="907" y="2200"/>
                    <a:pt x="169" y="2442"/>
                    <a:pt x="0" y="2685"/>
                  </a:cubicBezTo>
                  <a:lnTo>
                    <a:pt x="1387" y="26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52"/>
          <p:cNvSpPr txBox="1"/>
          <p:nvPr/>
        </p:nvSpPr>
        <p:spPr>
          <a:xfrm>
            <a:off x="81037" y="182266"/>
            <a:ext cx="4906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Noto Sans"/>
              <a:buNone/>
            </a:pPr>
            <a:r>
              <a:rPr b="0" i="0" lang="en-GB" sz="2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Milestones To Solutions:</a:t>
            </a:r>
            <a:endParaRPr b="0" i="0" sz="28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28" name="Google Shape;328;p52"/>
          <p:cNvGrpSpPr/>
          <p:nvPr/>
        </p:nvGrpSpPr>
        <p:grpSpPr>
          <a:xfrm>
            <a:off x="1437232" y="2895495"/>
            <a:ext cx="1097483" cy="1696636"/>
            <a:chOff x="7478257" y="2193205"/>
            <a:chExt cx="453000" cy="700308"/>
          </a:xfrm>
        </p:grpSpPr>
        <p:sp>
          <p:nvSpPr>
            <p:cNvPr id="329" name="Google Shape;329;p52"/>
            <p:cNvSpPr/>
            <p:nvPr/>
          </p:nvSpPr>
          <p:spPr>
            <a:xfrm>
              <a:off x="7478257" y="2786413"/>
              <a:ext cx="453000" cy="107100"/>
            </a:xfrm>
            <a:prstGeom prst="ellipse">
              <a:avLst/>
            </a:prstGeom>
            <a:solidFill>
              <a:schemeClr val="dk2">
                <a:alpha val="298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52"/>
            <p:cNvSpPr/>
            <p:nvPr/>
          </p:nvSpPr>
          <p:spPr>
            <a:xfrm>
              <a:off x="7478257" y="2193205"/>
              <a:ext cx="452893" cy="646699"/>
            </a:xfrm>
            <a:custGeom>
              <a:rect b="b" l="l" r="r" t="t"/>
              <a:pathLst>
                <a:path extrusionOk="0" h="315" w="221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52"/>
          <p:cNvGrpSpPr/>
          <p:nvPr/>
        </p:nvGrpSpPr>
        <p:grpSpPr>
          <a:xfrm>
            <a:off x="81036" y="50799"/>
            <a:ext cx="8129745" cy="5025779"/>
            <a:chOff x="2943225" y="38100"/>
            <a:chExt cx="6305550" cy="6818313"/>
          </a:xfrm>
        </p:grpSpPr>
        <p:sp>
          <p:nvSpPr>
            <p:cNvPr id="332" name="Google Shape;332;p52"/>
            <p:cNvSpPr/>
            <p:nvPr/>
          </p:nvSpPr>
          <p:spPr>
            <a:xfrm>
              <a:off x="2943225" y="6856413"/>
              <a:ext cx="6305550" cy="0"/>
            </a:xfrm>
            <a:custGeom>
              <a:rect b="b" l="l" r="r" t="t"/>
              <a:pathLst>
                <a:path extrusionOk="0" h="120000" w="15350">
                  <a:moveTo>
                    <a:pt x="0" y="0"/>
                  </a:moveTo>
                  <a:cubicBezTo>
                    <a:pt x="5120" y="0"/>
                    <a:pt x="10235" y="0"/>
                    <a:pt x="15350" y="0"/>
                  </a:cubicBezTo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52"/>
            <p:cNvSpPr/>
            <p:nvPr/>
          </p:nvSpPr>
          <p:spPr>
            <a:xfrm>
              <a:off x="6410325" y="5073650"/>
              <a:ext cx="330200" cy="195263"/>
            </a:xfrm>
            <a:custGeom>
              <a:rect b="b" l="l" r="r" t="t"/>
              <a:pathLst>
                <a:path extrusionOk="0" h="238" w="803">
                  <a:moveTo>
                    <a:pt x="15" y="238"/>
                  </a:moveTo>
                  <a:cubicBezTo>
                    <a:pt x="10" y="218"/>
                    <a:pt x="5" y="199"/>
                    <a:pt x="0" y="176"/>
                  </a:cubicBezTo>
                  <a:cubicBezTo>
                    <a:pt x="264" y="117"/>
                    <a:pt x="525" y="59"/>
                    <a:pt x="789" y="0"/>
                  </a:cubicBezTo>
                  <a:cubicBezTo>
                    <a:pt x="795" y="22"/>
                    <a:pt x="799" y="40"/>
                    <a:pt x="803" y="56"/>
                  </a:cubicBezTo>
                  <a:cubicBezTo>
                    <a:pt x="769" y="77"/>
                    <a:pt x="175" y="214"/>
                    <a:pt x="15" y="23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52"/>
            <p:cNvSpPr/>
            <p:nvPr/>
          </p:nvSpPr>
          <p:spPr>
            <a:xfrm>
              <a:off x="5848350" y="5321300"/>
              <a:ext cx="330201" cy="184150"/>
            </a:xfrm>
            <a:custGeom>
              <a:rect b="b" l="l" r="r" t="t"/>
              <a:pathLst>
                <a:path extrusionOk="0" h="224" w="804">
                  <a:moveTo>
                    <a:pt x="792" y="4"/>
                  </a:moveTo>
                  <a:cubicBezTo>
                    <a:pt x="795" y="20"/>
                    <a:pt x="799" y="38"/>
                    <a:pt x="804" y="61"/>
                  </a:cubicBezTo>
                  <a:cubicBezTo>
                    <a:pt x="539" y="118"/>
                    <a:pt x="277" y="171"/>
                    <a:pt x="13" y="224"/>
                  </a:cubicBezTo>
                  <a:cubicBezTo>
                    <a:pt x="8" y="207"/>
                    <a:pt x="4" y="196"/>
                    <a:pt x="2" y="184"/>
                  </a:cubicBezTo>
                  <a:cubicBezTo>
                    <a:pt x="0" y="178"/>
                    <a:pt x="1" y="171"/>
                    <a:pt x="0" y="166"/>
                  </a:cubicBezTo>
                  <a:cubicBezTo>
                    <a:pt x="32" y="149"/>
                    <a:pt x="757" y="0"/>
                    <a:pt x="792" y="4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52"/>
            <p:cNvSpPr/>
            <p:nvPr/>
          </p:nvSpPr>
          <p:spPr>
            <a:xfrm>
              <a:off x="5286375" y="5554663"/>
              <a:ext cx="331788" cy="204788"/>
            </a:xfrm>
            <a:custGeom>
              <a:rect b="b" l="l" r="r" t="t"/>
              <a:pathLst>
                <a:path extrusionOk="0" h="250" w="807">
                  <a:moveTo>
                    <a:pt x="781" y="0"/>
                  </a:moveTo>
                  <a:cubicBezTo>
                    <a:pt x="787" y="8"/>
                    <a:pt x="789" y="10"/>
                    <a:pt x="790" y="12"/>
                  </a:cubicBezTo>
                  <a:cubicBezTo>
                    <a:pt x="807" y="59"/>
                    <a:pt x="805" y="63"/>
                    <a:pt x="758" y="75"/>
                  </a:cubicBezTo>
                  <a:cubicBezTo>
                    <a:pt x="524" y="131"/>
                    <a:pt x="290" y="188"/>
                    <a:pt x="56" y="244"/>
                  </a:cubicBezTo>
                  <a:cubicBezTo>
                    <a:pt x="44" y="247"/>
                    <a:pt x="33" y="248"/>
                    <a:pt x="17" y="250"/>
                  </a:cubicBezTo>
                  <a:cubicBezTo>
                    <a:pt x="11" y="231"/>
                    <a:pt x="6" y="212"/>
                    <a:pt x="0" y="189"/>
                  </a:cubicBezTo>
                  <a:cubicBezTo>
                    <a:pt x="261" y="120"/>
                    <a:pt x="521" y="58"/>
                    <a:pt x="781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52"/>
            <p:cNvSpPr/>
            <p:nvPr/>
          </p:nvSpPr>
          <p:spPr>
            <a:xfrm>
              <a:off x="6969125" y="4754563"/>
              <a:ext cx="323851" cy="255588"/>
            </a:xfrm>
            <a:custGeom>
              <a:rect b="b" l="l" r="r" t="t"/>
              <a:pathLst>
                <a:path extrusionOk="0" h="311" w="790">
                  <a:moveTo>
                    <a:pt x="765" y="0"/>
                  </a:moveTo>
                  <a:cubicBezTo>
                    <a:pt x="774" y="21"/>
                    <a:pt x="781" y="38"/>
                    <a:pt x="790" y="58"/>
                  </a:cubicBezTo>
                  <a:cubicBezTo>
                    <a:pt x="775" y="66"/>
                    <a:pt x="762" y="73"/>
                    <a:pt x="749" y="78"/>
                  </a:cubicBezTo>
                  <a:cubicBezTo>
                    <a:pt x="570" y="151"/>
                    <a:pt x="386" y="208"/>
                    <a:pt x="200" y="261"/>
                  </a:cubicBezTo>
                  <a:cubicBezTo>
                    <a:pt x="142" y="277"/>
                    <a:pt x="83" y="293"/>
                    <a:pt x="19" y="311"/>
                  </a:cubicBezTo>
                  <a:cubicBezTo>
                    <a:pt x="12" y="289"/>
                    <a:pt x="7" y="270"/>
                    <a:pt x="0" y="246"/>
                  </a:cubicBezTo>
                  <a:cubicBezTo>
                    <a:pt x="260" y="175"/>
                    <a:pt x="515" y="103"/>
                    <a:pt x="765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52"/>
            <p:cNvSpPr/>
            <p:nvPr/>
          </p:nvSpPr>
          <p:spPr>
            <a:xfrm>
              <a:off x="4735513" y="5840413"/>
              <a:ext cx="323850" cy="257175"/>
            </a:xfrm>
            <a:custGeom>
              <a:rect b="b" l="l" r="r" t="t"/>
              <a:pathLst>
                <a:path extrusionOk="0" h="314" w="787">
                  <a:moveTo>
                    <a:pt x="22" y="314"/>
                  </a:moveTo>
                  <a:cubicBezTo>
                    <a:pt x="15" y="295"/>
                    <a:pt x="8" y="278"/>
                    <a:pt x="0" y="257"/>
                  </a:cubicBezTo>
                  <a:cubicBezTo>
                    <a:pt x="254" y="159"/>
                    <a:pt x="509" y="76"/>
                    <a:pt x="770" y="0"/>
                  </a:cubicBezTo>
                  <a:cubicBezTo>
                    <a:pt x="777" y="23"/>
                    <a:pt x="782" y="41"/>
                    <a:pt x="787" y="59"/>
                  </a:cubicBezTo>
                  <a:cubicBezTo>
                    <a:pt x="531" y="145"/>
                    <a:pt x="279" y="229"/>
                    <a:pt x="22" y="314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52"/>
            <p:cNvSpPr/>
            <p:nvPr/>
          </p:nvSpPr>
          <p:spPr>
            <a:xfrm>
              <a:off x="6248400" y="2874963"/>
              <a:ext cx="130175" cy="155575"/>
            </a:xfrm>
            <a:custGeom>
              <a:rect b="b" l="l" r="r" t="t"/>
              <a:pathLst>
                <a:path extrusionOk="0" h="190" w="316">
                  <a:moveTo>
                    <a:pt x="23" y="0"/>
                  </a:moveTo>
                  <a:cubicBezTo>
                    <a:pt x="124" y="50"/>
                    <a:pt x="218" y="98"/>
                    <a:pt x="316" y="147"/>
                  </a:cubicBezTo>
                  <a:cubicBezTo>
                    <a:pt x="309" y="161"/>
                    <a:pt x="303" y="173"/>
                    <a:pt x="296" y="190"/>
                  </a:cubicBezTo>
                  <a:cubicBezTo>
                    <a:pt x="194" y="145"/>
                    <a:pt x="96" y="99"/>
                    <a:pt x="0" y="40"/>
                  </a:cubicBezTo>
                  <a:cubicBezTo>
                    <a:pt x="8" y="26"/>
                    <a:pt x="15" y="14"/>
                    <a:pt x="23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52"/>
            <p:cNvSpPr/>
            <p:nvPr/>
          </p:nvSpPr>
          <p:spPr>
            <a:xfrm>
              <a:off x="7210425" y="3732213"/>
              <a:ext cx="128588" cy="165100"/>
            </a:xfrm>
            <a:custGeom>
              <a:rect b="b" l="l" r="r" t="t"/>
              <a:pathLst>
                <a:path extrusionOk="0" h="202" w="312">
                  <a:moveTo>
                    <a:pt x="0" y="42"/>
                  </a:moveTo>
                  <a:cubicBezTo>
                    <a:pt x="8" y="27"/>
                    <a:pt x="14" y="16"/>
                    <a:pt x="22" y="0"/>
                  </a:cubicBezTo>
                  <a:cubicBezTo>
                    <a:pt x="122" y="48"/>
                    <a:pt x="215" y="103"/>
                    <a:pt x="312" y="160"/>
                  </a:cubicBezTo>
                  <a:cubicBezTo>
                    <a:pt x="302" y="175"/>
                    <a:pt x="295" y="187"/>
                    <a:pt x="286" y="202"/>
                  </a:cubicBezTo>
                  <a:cubicBezTo>
                    <a:pt x="190" y="148"/>
                    <a:pt x="97" y="97"/>
                    <a:pt x="0" y="4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52"/>
            <p:cNvSpPr/>
            <p:nvPr/>
          </p:nvSpPr>
          <p:spPr>
            <a:xfrm>
              <a:off x="6731000" y="3297238"/>
              <a:ext cx="133350" cy="142875"/>
            </a:xfrm>
            <a:custGeom>
              <a:rect b="b" l="l" r="r" t="t"/>
              <a:pathLst>
                <a:path extrusionOk="0" h="174" w="322">
                  <a:moveTo>
                    <a:pt x="322" y="127"/>
                  </a:moveTo>
                  <a:cubicBezTo>
                    <a:pt x="316" y="143"/>
                    <a:pt x="311" y="156"/>
                    <a:pt x="304" y="174"/>
                  </a:cubicBezTo>
                  <a:cubicBezTo>
                    <a:pt x="201" y="131"/>
                    <a:pt x="103" y="90"/>
                    <a:pt x="0" y="47"/>
                  </a:cubicBezTo>
                  <a:cubicBezTo>
                    <a:pt x="7" y="31"/>
                    <a:pt x="12" y="18"/>
                    <a:pt x="19" y="0"/>
                  </a:cubicBezTo>
                  <a:cubicBezTo>
                    <a:pt x="121" y="42"/>
                    <a:pt x="220" y="84"/>
                    <a:pt x="322" y="127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52"/>
            <p:cNvSpPr/>
            <p:nvPr/>
          </p:nvSpPr>
          <p:spPr>
            <a:xfrm>
              <a:off x="6488113" y="3095625"/>
              <a:ext cx="133350" cy="142875"/>
            </a:xfrm>
            <a:custGeom>
              <a:rect b="b" l="l" r="r" t="t"/>
              <a:pathLst>
                <a:path extrusionOk="0" h="174" w="323">
                  <a:moveTo>
                    <a:pt x="0" y="47"/>
                  </a:moveTo>
                  <a:cubicBezTo>
                    <a:pt x="8" y="29"/>
                    <a:pt x="13" y="17"/>
                    <a:pt x="20" y="0"/>
                  </a:cubicBezTo>
                  <a:cubicBezTo>
                    <a:pt x="121" y="42"/>
                    <a:pt x="219" y="83"/>
                    <a:pt x="323" y="126"/>
                  </a:cubicBezTo>
                  <a:cubicBezTo>
                    <a:pt x="317" y="142"/>
                    <a:pt x="311" y="156"/>
                    <a:pt x="305" y="174"/>
                  </a:cubicBezTo>
                  <a:cubicBezTo>
                    <a:pt x="202" y="131"/>
                    <a:pt x="104" y="90"/>
                    <a:pt x="0" y="47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52"/>
            <p:cNvSpPr/>
            <p:nvPr/>
          </p:nvSpPr>
          <p:spPr>
            <a:xfrm>
              <a:off x="7419975" y="4445000"/>
              <a:ext cx="120650" cy="185738"/>
            </a:xfrm>
            <a:custGeom>
              <a:rect b="b" l="l" r="r" t="t"/>
              <a:pathLst>
                <a:path extrusionOk="0" h="226" w="291">
                  <a:moveTo>
                    <a:pt x="19" y="226"/>
                  </a:moveTo>
                  <a:cubicBezTo>
                    <a:pt x="13" y="215"/>
                    <a:pt x="8" y="210"/>
                    <a:pt x="6" y="204"/>
                  </a:cubicBezTo>
                  <a:cubicBezTo>
                    <a:pt x="3" y="198"/>
                    <a:pt x="2" y="192"/>
                    <a:pt x="0" y="180"/>
                  </a:cubicBezTo>
                  <a:cubicBezTo>
                    <a:pt x="91" y="134"/>
                    <a:pt x="182" y="84"/>
                    <a:pt x="251" y="0"/>
                  </a:cubicBezTo>
                  <a:cubicBezTo>
                    <a:pt x="264" y="9"/>
                    <a:pt x="276" y="17"/>
                    <a:pt x="291" y="28"/>
                  </a:cubicBezTo>
                  <a:cubicBezTo>
                    <a:pt x="219" y="122"/>
                    <a:pt x="123" y="176"/>
                    <a:pt x="19" y="2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52"/>
            <p:cNvSpPr/>
            <p:nvPr/>
          </p:nvSpPr>
          <p:spPr>
            <a:xfrm>
              <a:off x="6973888" y="3505200"/>
              <a:ext cx="131763" cy="149225"/>
            </a:xfrm>
            <a:custGeom>
              <a:rect b="b" l="l" r="r" t="t"/>
              <a:pathLst>
                <a:path extrusionOk="0" h="181" w="320">
                  <a:moveTo>
                    <a:pt x="0" y="45"/>
                  </a:moveTo>
                  <a:cubicBezTo>
                    <a:pt x="5" y="31"/>
                    <a:pt x="7" y="23"/>
                    <a:pt x="11" y="16"/>
                  </a:cubicBezTo>
                  <a:cubicBezTo>
                    <a:pt x="13" y="12"/>
                    <a:pt x="17" y="8"/>
                    <a:pt x="24" y="0"/>
                  </a:cubicBezTo>
                  <a:cubicBezTo>
                    <a:pt x="121" y="44"/>
                    <a:pt x="218" y="89"/>
                    <a:pt x="320" y="135"/>
                  </a:cubicBezTo>
                  <a:cubicBezTo>
                    <a:pt x="312" y="152"/>
                    <a:pt x="306" y="164"/>
                    <a:pt x="298" y="181"/>
                  </a:cubicBezTo>
                  <a:cubicBezTo>
                    <a:pt x="198" y="135"/>
                    <a:pt x="101" y="91"/>
                    <a:pt x="0" y="4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52"/>
            <p:cNvSpPr/>
            <p:nvPr/>
          </p:nvSpPr>
          <p:spPr>
            <a:xfrm>
              <a:off x="7432675" y="4010025"/>
              <a:ext cx="107950" cy="217488"/>
            </a:xfrm>
            <a:custGeom>
              <a:rect b="b" l="l" r="r" t="t"/>
              <a:pathLst>
                <a:path extrusionOk="0" h="266" w="262">
                  <a:moveTo>
                    <a:pt x="0" y="37"/>
                  </a:moveTo>
                  <a:cubicBezTo>
                    <a:pt x="13" y="22"/>
                    <a:pt x="21" y="13"/>
                    <a:pt x="32" y="0"/>
                  </a:cubicBezTo>
                  <a:cubicBezTo>
                    <a:pt x="122" y="69"/>
                    <a:pt x="202" y="142"/>
                    <a:pt x="262" y="238"/>
                  </a:cubicBezTo>
                  <a:cubicBezTo>
                    <a:pt x="253" y="246"/>
                    <a:pt x="248" y="252"/>
                    <a:pt x="242" y="256"/>
                  </a:cubicBezTo>
                  <a:cubicBezTo>
                    <a:pt x="236" y="259"/>
                    <a:pt x="230" y="261"/>
                    <a:pt x="221" y="266"/>
                  </a:cubicBezTo>
                  <a:cubicBezTo>
                    <a:pt x="162" y="177"/>
                    <a:pt x="85" y="106"/>
                    <a:pt x="0" y="37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52"/>
            <p:cNvSpPr/>
            <p:nvPr/>
          </p:nvSpPr>
          <p:spPr>
            <a:xfrm>
              <a:off x="7256463" y="1908175"/>
              <a:ext cx="103188" cy="61913"/>
            </a:xfrm>
            <a:custGeom>
              <a:rect b="b" l="l" r="r" t="t"/>
              <a:pathLst>
                <a:path extrusionOk="0" h="76" w="251">
                  <a:moveTo>
                    <a:pt x="248" y="34"/>
                  </a:moveTo>
                  <a:cubicBezTo>
                    <a:pt x="197" y="43"/>
                    <a:pt x="148" y="51"/>
                    <a:pt x="98" y="59"/>
                  </a:cubicBezTo>
                  <a:cubicBezTo>
                    <a:pt x="77" y="62"/>
                    <a:pt x="57" y="66"/>
                    <a:pt x="36" y="68"/>
                  </a:cubicBezTo>
                  <a:cubicBezTo>
                    <a:pt x="23" y="69"/>
                    <a:pt x="7" y="76"/>
                    <a:pt x="3" y="56"/>
                  </a:cubicBezTo>
                  <a:cubicBezTo>
                    <a:pt x="0" y="34"/>
                    <a:pt x="20" y="35"/>
                    <a:pt x="33" y="33"/>
                  </a:cubicBezTo>
                  <a:cubicBezTo>
                    <a:pt x="67" y="26"/>
                    <a:pt x="101" y="22"/>
                    <a:pt x="135" y="16"/>
                  </a:cubicBezTo>
                  <a:cubicBezTo>
                    <a:pt x="165" y="12"/>
                    <a:pt x="195" y="7"/>
                    <a:pt x="225" y="3"/>
                  </a:cubicBezTo>
                  <a:cubicBezTo>
                    <a:pt x="244" y="0"/>
                    <a:pt x="251" y="10"/>
                    <a:pt x="248" y="34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52"/>
            <p:cNvSpPr/>
            <p:nvPr/>
          </p:nvSpPr>
          <p:spPr>
            <a:xfrm>
              <a:off x="7451725" y="1847850"/>
              <a:ext cx="103188" cy="57150"/>
            </a:xfrm>
            <a:custGeom>
              <a:rect b="b" l="l" r="r" t="t"/>
              <a:pathLst>
                <a:path extrusionOk="0" h="71" w="252">
                  <a:moveTo>
                    <a:pt x="19" y="71"/>
                  </a:moveTo>
                  <a:cubicBezTo>
                    <a:pt x="15" y="66"/>
                    <a:pt x="5" y="61"/>
                    <a:pt x="3" y="53"/>
                  </a:cubicBezTo>
                  <a:cubicBezTo>
                    <a:pt x="0" y="39"/>
                    <a:pt x="13" y="36"/>
                    <a:pt x="23" y="34"/>
                  </a:cubicBezTo>
                  <a:cubicBezTo>
                    <a:pt x="89" y="23"/>
                    <a:pt x="154" y="12"/>
                    <a:pt x="220" y="2"/>
                  </a:cubicBezTo>
                  <a:cubicBezTo>
                    <a:pt x="232" y="0"/>
                    <a:pt x="245" y="0"/>
                    <a:pt x="248" y="15"/>
                  </a:cubicBezTo>
                  <a:cubicBezTo>
                    <a:pt x="252" y="32"/>
                    <a:pt x="239" y="35"/>
                    <a:pt x="226" y="37"/>
                  </a:cubicBezTo>
                  <a:cubicBezTo>
                    <a:pt x="177" y="45"/>
                    <a:pt x="127" y="53"/>
                    <a:pt x="77" y="61"/>
                  </a:cubicBezTo>
                  <a:cubicBezTo>
                    <a:pt x="60" y="64"/>
                    <a:pt x="43" y="67"/>
                    <a:pt x="19" y="7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52"/>
            <p:cNvSpPr/>
            <p:nvPr/>
          </p:nvSpPr>
          <p:spPr>
            <a:xfrm>
              <a:off x="6484938" y="2205038"/>
              <a:ext cx="100013" cy="77788"/>
            </a:xfrm>
            <a:custGeom>
              <a:rect b="b" l="l" r="r" t="t"/>
              <a:pathLst>
                <a:path extrusionOk="0" h="95" w="242">
                  <a:moveTo>
                    <a:pt x="242" y="29"/>
                  </a:moveTo>
                  <a:cubicBezTo>
                    <a:pt x="233" y="33"/>
                    <a:pt x="226" y="37"/>
                    <a:pt x="219" y="39"/>
                  </a:cubicBezTo>
                  <a:cubicBezTo>
                    <a:pt x="156" y="57"/>
                    <a:pt x="94" y="74"/>
                    <a:pt x="31" y="91"/>
                  </a:cubicBezTo>
                  <a:cubicBezTo>
                    <a:pt x="26" y="92"/>
                    <a:pt x="21" y="95"/>
                    <a:pt x="16" y="94"/>
                  </a:cubicBezTo>
                  <a:cubicBezTo>
                    <a:pt x="10" y="93"/>
                    <a:pt x="2" y="89"/>
                    <a:pt x="1" y="85"/>
                  </a:cubicBezTo>
                  <a:cubicBezTo>
                    <a:pt x="0" y="78"/>
                    <a:pt x="2" y="70"/>
                    <a:pt x="6" y="64"/>
                  </a:cubicBezTo>
                  <a:cubicBezTo>
                    <a:pt x="8" y="60"/>
                    <a:pt x="15" y="59"/>
                    <a:pt x="20" y="58"/>
                  </a:cubicBezTo>
                  <a:cubicBezTo>
                    <a:pt x="82" y="40"/>
                    <a:pt x="145" y="23"/>
                    <a:pt x="207" y="5"/>
                  </a:cubicBezTo>
                  <a:cubicBezTo>
                    <a:pt x="224" y="1"/>
                    <a:pt x="239" y="0"/>
                    <a:pt x="242" y="29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52"/>
            <p:cNvSpPr/>
            <p:nvPr/>
          </p:nvSpPr>
          <p:spPr>
            <a:xfrm>
              <a:off x="7645400" y="1778000"/>
              <a:ext cx="103188" cy="61913"/>
            </a:xfrm>
            <a:custGeom>
              <a:rect b="b" l="l" r="r" t="t"/>
              <a:pathLst>
                <a:path extrusionOk="0" h="77" w="248">
                  <a:moveTo>
                    <a:pt x="20" y="77"/>
                  </a:moveTo>
                  <a:cubicBezTo>
                    <a:pt x="15" y="72"/>
                    <a:pt x="6" y="67"/>
                    <a:pt x="4" y="60"/>
                  </a:cubicBezTo>
                  <a:cubicBezTo>
                    <a:pt x="0" y="47"/>
                    <a:pt x="11" y="41"/>
                    <a:pt x="22" y="39"/>
                  </a:cubicBezTo>
                  <a:cubicBezTo>
                    <a:pt x="66" y="30"/>
                    <a:pt x="111" y="22"/>
                    <a:pt x="155" y="14"/>
                  </a:cubicBezTo>
                  <a:cubicBezTo>
                    <a:pt x="179" y="9"/>
                    <a:pt x="202" y="4"/>
                    <a:pt x="226" y="1"/>
                  </a:cubicBezTo>
                  <a:cubicBezTo>
                    <a:pt x="232" y="0"/>
                    <a:pt x="244" y="7"/>
                    <a:pt x="246" y="13"/>
                  </a:cubicBezTo>
                  <a:cubicBezTo>
                    <a:pt x="248" y="18"/>
                    <a:pt x="241" y="32"/>
                    <a:pt x="235" y="33"/>
                  </a:cubicBezTo>
                  <a:cubicBezTo>
                    <a:pt x="165" y="48"/>
                    <a:pt x="95" y="62"/>
                    <a:pt x="20" y="77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52"/>
            <p:cNvSpPr/>
            <p:nvPr/>
          </p:nvSpPr>
          <p:spPr>
            <a:xfrm>
              <a:off x="7061200" y="1970088"/>
              <a:ext cx="104775" cy="61913"/>
            </a:xfrm>
            <a:custGeom>
              <a:rect b="b" l="l" r="r" t="t"/>
              <a:pathLst>
                <a:path extrusionOk="0" h="75" w="253">
                  <a:moveTo>
                    <a:pt x="243" y="0"/>
                  </a:moveTo>
                  <a:cubicBezTo>
                    <a:pt x="253" y="22"/>
                    <a:pt x="252" y="34"/>
                    <a:pt x="234" y="37"/>
                  </a:cubicBezTo>
                  <a:cubicBezTo>
                    <a:pt x="160" y="50"/>
                    <a:pt x="86" y="62"/>
                    <a:pt x="12" y="75"/>
                  </a:cubicBezTo>
                  <a:cubicBezTo>
                    <a:pt x="1" y="56"/>
                    <a:pt x="0" y="42"/>
                    <a:pt x="20" y="38"/>
                  </a:cubicBezTo>
                  <a:cubicBezTo>
                    <a:pt x="94" y="25"/>
                    <a:pt x="168" y="13"/>
                    <a:pt x="243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52"/>
            <p:cNvSpPr/>
            <p:nvPr/>
          </p:nvSpPr>
          <p:spPr>
            <a:xfrm>
              <a:off x="6165850" y="2497138"/>
              <a:ext cx="57150" cy="184150"/>
            </a:xfrm>
            <a:custGeom>
              <a:rect b="b" l="l" r="r" t="t"/>
              <a:pathLst>
                <a:path extrusionOk="0" h="223" w="139">
                  <a:moveTo>
                    <a:pt x="139" y="29"/>
                  </a:moveTo>
                  <a:cubicBezTo>
                    <a:pt x="84" y="79"/>
                    <a:pt x="33" y="134"/>
                    <a:pt x="36" y="216"/>
                  </a:cubicBezTo>
                  <a:cubicBezTo>
                    <a:pt x="6" y="223"/>
                    <a:pt x="0" y="221"/>
                    <a:pt x="2" y="198"/>
                  </a:cubicBezTo>
                  <a:cubicBezTo>
                    <a:pt x="4" y="176"/>
                    <a:pt x="9" y="154"/>
                    <a:pt x="16" y="133"/>
                  </a:cubicBezTo>
                  <a:cubicBezTo>
                    <a:pt x="33" y="85"/>
                    <a:pt x="66" y="49"/>
                    <a:pt x="103" y="16"/>
                  </a:cubicBezTo>
                  <a:cubicBezTo>
                    <a:pt x="120" y="0"/>
                    <a:pt x="130" y="6"/>
                    <a:pt x="139" y="29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52"/>
            <p:cNvSpPr/>
            <p:nvPr/>
          </p:nvSpPr>
          <p:spPr>
            <a:xfrm>
              <a:off x="6677025" y="2116138"/>
              <a:ext cx="100013" cy="66675"/>
            </a:xfrm>
            <a:custGeom>
              <a:rect b="b" l="l" r="r" t="t"/>
              <a:pathLst>
                <a:path extrusionOk="0" h="82" w="246">
                  <a:moveTo>
                    <a:pt x="228" y="0"/>
                  </a:moveTo>
                  <a:cubicBezTo>
                    <a:pt x="232" y="5"/>
                    <a:pt x="240" y="10"/>
                    <a:pt x="242" y="17"/>
                  </a:cubicBezTo>
                  <a:cubicBezTo>
                    <a:pt x="246" y="30"/>
                    <a:pt x="235" y="35"/>
                    <a:pt x="224" y="37"/>
                  </a:cubicBezTo>
                  <a:cubicBezTo>
                    <a:pt x="173" y="48"/>
                    <a:pt x="123" y="59"/>
                    <a:pt x="72" y="71"/>
                  </a:cubicBezTo>
                  <a:cubicBezTo>
                    <a:pt x="55" y="74"/>
                    <a:pt x="38" y="80"/>
                    <a:pt x="21" y="81"/>
                  </a:cubicBezTo>
                  <a:cubicBezTo>
                    <a:pt x="15" y="82"/>
                    <a:pt x="7" y="74"/>
                    <a:pt x="0" y="69"/>
                  </a:cubicBezTo>
                  <a:cubicBezTo>
                    <a:pt x="4" y="63"/>
                    <a:pt x="7" y="53"/>
                    <a:pt x="14" y="49"/>
                  </a:cubicBezTo>
                  <a:cubicBezTo>
                    <a:pt x="22" y="44"/>
                    <a:pt x="34" y="43"/>
                    <a:pt x="44" y="41"/>
                  </a:cubicBezTo>
                  <a:cubicBezTo>
                    <a:pt x="96" y="29"/>
                    <a:pt x="148" y="18"/>
                    <a:pt x="199" y="6"/>
                  </a:cubicBezTo>
                  <a:cubicBezTo>
                    <a:pt x="207" y="4"/>
                    <a:pt x="215" y="3"/>
                    <a:pt x="228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52"/>
            <p:cNvSpPr/>
            <p:nvPr/>
          </p:nvSpPr>
          <p:spPr>
            <a:xfrm>
              <a:off x="6867525" y="2039938"/>
              <a:ext cx="103188" cy="61913"/>
            </a:xfrm>
            <a:custGeom>
              <a:rect b="b" l="l" r="r" t="t"/>
              <a:pathLst>
                <a:path extrusionOk="0" h="76" w="252">
                  <a:moveTo>
                    <a:pt x="11" y="76"/>
                  </a:moveTo>
                  <a:cubicBezTo>
                    <a:pt x="0" y="57"/>
                    <a:pt x="0" y="44"/>
                    <a:pt x="20" y="40"/>
                  </a:cubicBezTo>
                  <a:cubicBezTo>
                    <a:pt x="89" y="26"/>
                    <a:pt x="158" y="13"/>
                    <a:pt x="227" y="1"/>
                  </a:cubicBezTo>
                  <a:cubicBezTo>
                    <a:pt x="233" y="0"/>
                    <a:pt x="245" y="7"/>
                    <a:pt x="247" y="13"/>
                  </a:cubicBezTo>
                  <a:cubicBezTo>
                    <a:pt x="252" y="24"/>
                    <a:pt x="245" y="32"/>
                    <a:pt x="232" y="35"/>
                  </a:cubicBezTo>
                  <a:cubicBezTo>
                    <a:pt x="178" y="45"/>
                    <a:pt x="123" y="56"/>
                    <a:pt x="69" y="66"/>
                  </a:cubicBezTo>
                  <a:cubicBezTo>
                    <a:pt x="50" y="70"/>
                    <a:pt x="30" y="73"/>
                    <a:pt x="11" y="7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52"/>
            <p:cNvSpPr/>
            <p:nvPr/>
          </p:nvSpPr>
          <p:spPr>
            <a:xfrm>
              <a:off x="6296025" y="2322513"/>
              <a:ext cx="101600" cy="98425"/>
            </a:xfrm>
            <a:custGeom>
              <a:rect b="b" l="l" r="r" t="t"/>
              <a:pathLst>
                <a:path extrusionOk="0" h="120" w="245">
                  <a:moveTo>
                    <a:pt x="19" y="120"/>
                  </a:moveTo>
                  <a:cubicBezTo>
                    <a:pt x="6" y="104"/>
                    <a:pt x="0" y="92"/>
                    <a:pt x="18" y="84"/>
                  </a:cubicBezTo>
                  <a:cubicBezTo>
                    <a:pt x="84" y="56"/>
                    <a:pt x="150" y="28"/>
                    <a:pt x="217" y="2"/>
                  </a:cubicBezTo>
                  <a:cubicBezTo>
                    <a:pt x="222" y="0"/>
                    <a:pt x="235" y="5"/>
                    <a:pt x="239" y="11"/>
                  </a:cubicBezTo>
                  <a:cubicBezTo>
                    <a:pt x="245" y="22"/>
                    <a:pt x="239" y="30"/>
                    <a:pt x="227" y="35"/>
                  </a:cubicBezTo>
                  <a:cubicBezTo>
                    <a:pt x="208" y="42"/>
                    <a:pt x="189" y="49"/>
                    <a:pt x="171" y="56"/>
                  </a:cubicBezTo>
                  <a:cubicBezTo>
                    <a:pt x="121" y="77"/>
                    <a:pt x="71" y="98"/>
                    <a:pt x="19" y="1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52"/>
            <p:cNvSpPr/>
            <p:nvPr/>
          </p:nvSpPr>
          <p:spPr>
            <a:xfrm>
              <a:off x="7839075" y="1689100"/>
              <a:ext cx="103188" cy="73025"/>
            </a:xfrm>
            <a:custGeom>
              <a:rect b="b" l="l" r="r" t="t"/>
              <a:pathLst>
                <a:path extrusionOk="0" h="88" w="251">
                  <a:moveTo>
                    <a:pt x="241" y="2"/>
                  </a:moveTo>
                  <a:cubicBezTo>
                    <a:pt x="251" y="23"/>
                    <a:pt x="243" y="32"/>
                    <a:pt x="228" y="36"/>
                  </a:cubicBezTo>
                  <a:cubicBezTo>
                    <a:pt x="162" y="52"/>
                    <a:pt x="97" y="69"/>
                    <a:pt x="31" y="85"/>
                  </a:cubicBezTo>
                  <a:cubicBezTo>
                    <a:pt x="19" y="87"/>
                    <a:pt x="7" y="88"/>
                    <a:pt x="3" y="72"/>
                  </a:cubicBezTo>
                  <a:cubicBezTo>
                    <a:pt x="0" y="57"/>
                    <a:pt x="11" y="53"/>
                    <a:pt x="21" y="51"/>
                  </a:cubicBezTo>
                  <a:cubicBezTo>
                    <a:pt x="88" y="34"/>
                    <a:pt x="155" y="17"/>
                    <a:pt x="222" y="1"/>
                  </a:cubicBezTo>
                  <a:cubicBezTo>
                    <a:pt x="228" y="0"/>
                    <a:pt x="234" y="2"/>
                    <a:pt x="241" y="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52"/>
            <p:cNvSpPr/>
            <p:nvPr/>
          </p:nvSpPr>
          <p:spPr>
            <a:xfrm>
              <a:off x="8029575" y="1565275"/>
              <a:ext cx="100013" cy="92075"/>
            </a:xfrm>
            <a:custGeom>
              <a:rect b="b" l="l" r="r" t="t"/>
              <a:pathLst>
                <a:path extrusionOk="0" h="111" w="244">
                  <a:moveTo>
                    <a:pt x="228" y="0"/>
                  </a:moveTo>
                  <a:cubicBezTo>
                    <a:pt x="239" y="17"/>
                    <a:pt x="244" y="30"/>
                    <a:pt x="224" y="37"/>
                  </a:cubicBezTo>
                  <a:cubicBezTo>
                    <a:pt x="159" y="61"/>
                    <a:pt x="94" y="84"/>
                    <a:pt x="29" y="107"/>
                  </a:cubicBezTo>
                  <a:cubicBezTo>
                    <a:pt x="25" y="109"/>
                    <a:pt x="18" y="111"/>
                    <a:pt x="14" y="109"/>
                  </a:cubicBezTo>
                  <a:cubicBezTo>
                    <a:pt x="9" y="106"/>
                    <a:pt x="4" y="101"/>
                    <a:pt x="2" y="95"/>
                  </a:cubicBezTo>
                  <a:cubicBezTo>
                    <a:pt x="0" y="92"/>
                    <a:pt x="2" y="85"/>
                    <a:pt x="5" y="81"/>
                  </a:cubicBezTo>
                  <a:cubicBezTo>
                    <a:pt x="8" y="78"/>
                    <a:pt x="14" y="75"/>
                    <a:pt x="19" y="74"/>
                  </a:cubicBezTo>
                  <a:cubicBezTo>
                    <a:pt x="87" y="49"/>
                    <a:pt x="156" y="25"/>
                    <a:pt x="228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52"/>
            <p:cNvSpPr/>
            <p:nvPr/>
          </p:nvSpPr>
          <p:spPr>
            <a:xfrm>
              <a:off x="7735888" y="1001713"/>
              <a:ext cx="71438" cy="44450"/>
            </a:xfrm>
            <a:custGeom>
              <a:rect b="b" l="l" r="r" t="t"/>
              <a:pathLst>
                <a:path extrusionOk="0" h="54" w="172">
                  <a:moveTo>
                    <a:pt x="172" y="45"/>
                  </a:moveTo>
                  <a:cubicBezTo>
                    <a:pt x="167" y="48"/>
                    <a:pt x="161" y="54"/>
                    <a:pt x="157" y="53"/>
                  </a:cubicBezTo>
                  <a:cubicBezTo>
                    <a:pt x="105" y="45"/>
                    <a:pt x="54" y="35"/>
                    <a:pt x="0" y="16"/>
                  </a:cubicBezTo>
                  <a:cubicBezTo>
                    <a:pt x="8" y="8"/>
                    <a:pt x="12" y="0"/>
                    <a:pt x="16" y="0"/>
                  </a:cubicBezTo>
                  <a:cubicBezTo>
                    <a:pt x="69" y="3"/>
                    <a:pt x="120" y="19"/>
                    <a:pt x="171" y="33"/>
                  </a:cubicBezTo>
                  <a:cubicBezTo>
                    <a:pt x="172" y="37"/>
                    <a:pt x="172" y="41"/>
                    <a:pt x="172" y="4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52"/>
            <p:cNvSpPr/>
            <p:nvPr/>
          </p:nvSpPr>
          <p:spPr>
            <a:xfrm>
              <a:off x="7480300" y="890588"/>
              <a:ext cx="71438" cy="44450"/>
            </a:xfrm>
            <a:custGeom>
              <a:rect b="b" l="l" r="r" t="t"/>
              <a:pathLst>
                <a:path extrusionOk="0" h="54" w="171">
                  <a:moveTo>
                    <a:pt x="171" y="35"/>
                  </a:moveTo>
                  <a:cubicBezTo>
                    <a:pt x="160" y="45"/>
                    <a:pt x="154" y="54"/>
                    <a:pt x="150" y="53"/>
                  </a:cubicBezTo>
                  <a:cubicBezTo>
                    <a:pt x="103" y="45"/>
                    <a:pt x="56" y="35"/>
                    <a:pt x="9" y="25"/>
                  </a:cubicBezTo>
                  <a:cubicBezTo>
                    <a:pt x="5" y="24"/>
                    <a:pt x="0" y="15"/>
                    <a:pt x="1" y="10"/>
                  </a:cubicBezTo>
                  <a:cubicBezTo>
                    <a:pt x="1" y="6"/>
                    <a:pt x="10" y="0"/>
                    <a:pt x="14" y="0"/>
                  </a:cubicBezTo>
                  <a:cubicBezTo>
                    <a:pt x="64" y="10"/>
                    <a:pt x="115" y="17"/>
                    <a:pt x="171" y="3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52"/>
            <p:cNvSpPr/>
            <p:nvPr/>
          </p:nvSpPr>
          <p:spPr>
            <a:xfrm>
              <a:off x="7610475" y="942975"/>
              <a:ext cx="68263" cy="46038"/>
            </a:xfrm>
            <a:custGeom>
              <a:rect b="b" l="l" r="r" t="t"/>
              <a:pathLst>
                <a:path extrusionOk="0" h="56" w="167">
                  <a:moveTo>
                    <a:pt x="167" y="46"/>
                  </a:moveTo>
                  <a:cubicBezTo>
                    <a:pt x="159" y="50"/>
                    <a:pt x="153" y="56"/>
                    <a:pt x="149" y="55"/>
                  </a:cubicBezTo>
                  <a:cubicBezTo>
                    <a:pt x="102" y="46"/>
                    <a:pt x="56" y="36"/>
                    <a:pt x="10" y="25"/>
                  </a:cubicBezTo>
                  <a:cubicBezTo>
                    <a:pt x="5" y="24"/>
                    <a:pt x="0" y="15"/>
                    <a:pt x="0" y="11"/>
                  </a:cubicBezTo>
                  <a:cubicBezTo>
                    <a:pt x="1" y="7"/>
                    <a:pt x="10" y="0"/>
                    <a:pt x="14" y="1"/>
                  </a:cubicBezTo>
                  <a:cubicBezTo>
                    <a:pt x="61" y="10"/>
                    <a:pt x="107" y="20"/>
                    <a:pt x="153" y="31"/>
                  </a:cubicBezTo>
                  <a:cubicBezTo>
                    <a:pt x="158" y="32"/>
                    <a:pt x="161" y="39"/>
                    <a:pt x="167" y="4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52"/>
            <p:cNvSpPr/>
            <p:nvPr/>
          </p:nvSpPr>
          <p:spPr>
            <a:xfrm>
              <a:off x="7351713" y="835025"/>
              <a:ext cx="71438" cy="46038"/>
            </a:xfrm>
            <a:custGeom>
              <a:rect b="b" l="l" r="r" t="t"/>
              <a:pathLst>
                <a:path extrusionOk="0" h="57" w="175">
                  <a:moveTo>
                    <a:pt x="8" y="0"/>
                  </a:moveTo>
                  <a:cubicBezTo>
                    <a:pt x="61" y="10"/>
                    <a:pt x="115" y="19"/>
                    <a:pt x="175" y="41"/>
                  </a:cubicBezTo>
                  <a:cubicBezTo>
                    <a:pt x="162" y="50"/>
                    <a:pt x="155" y="57"/>
                    <a:pt x="151" y="56"/>
                  </a:cubicBezTo>
                  <a:cubicBezTo>
                    <a:pt x="105" y="47"/>
                    <a:pt x="60" y="38"/>
                    <a:pt x="14" y="27"/>
                  </a:cubicBezTo>
                  <a:cubicBezTo>
                    <a:pt x="8" y="25"/>
                    <a:pt x="5" y="16"/>
                    <a:pt x="0" y="10"/>
                  </a:cubicBezTo>
                  <a:cubicBezTo>
                    <a:pt x="3" y="7"/>
                    <a:pt x="5" y="3"/>
                    <a:pt x="8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52"/>
            <p:cNvSpPr/>
            <p:nvPr/>
          </p:nvSpPr>
          <p:spPr>
            <a:xfrm>
              <a:off x="7226300" y="760413"/>
              <a:ext cx="65088" cy="60325"/>
            </a:xfrm>
            <a:custGeom>
              <a:rect b="b" l="l" r="r" t="t"/>
              <a:pathLst>
                <a:path extrusionOk="0" h="74" w="160">
                  <a:moveTo>
                    <a:pt x="160" y="56"/>
                  </a:moveTo>
                  <a:cubicBezTo>
                    <a:pt x="156" y="74"/>
                    <a:pt x="145" y="74"/>
                    <a:pt x="135" y="70"/>
                  </a:cubicBezTo>
                  <a:cubicBezTo>
                    <a:pt x="95" y="57"/>
                    <a:pt x="55" y="43"/>
                    <a:pt x="15" y="28"/>
                  </a:cubicBezTo>
                  <a:cubicBezTo>
                    <a:pt x="13" y="28"/>
                    <a:pt x="9" y="27"/>
                    <a:pt x="8" y="25"/>
                  </a:cubicBezTo>
                  <a:cubicBezTo>
                    <a:pt x="5" y="20"/>
                    <a:pt x="2" y="14"/>
                    <a:pt x="0" y="9"/>
                  </a:cubicBezTo>
                  <a:cubicBezTo>
                    <a:pt x="6" y="6"/>
                    <a:pt x="13" y="0"/>
                    <a:pt x="19" y="2"/>
                  </a:cubicBezTo>
                  <a:cubicBezTo>
                    <a:pt x="38" y="7"/>
                    <a:pt x="56" y="16"/>
                    <a:pt x="74" y="22"/>
                  </a:cubicBezTo>
                  <a:cubicBezTo>
                    <a:pt x="96" y="30"/>
                    <a:pt x="117" y="36"/>
                    <a:pt x="138" y="43"/>
                  </a:cubicBezTo>
                  <a:cubicBezTo>
                    <a:pt x="146" y="46"/>
                    <a:pt x="153" y="52"/>
                    <a:pt x="160" y="5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52"/>
            <p:cNvSpPr/>
            <p:nvPr/>
          </p:nvSpPr>
          <p:spPr>
            <a:xfrm>
              <a:off x="8166100" y="1408113"/>
              <a:ext cx="42863" cy="109538"/>
            </a:xfrm>
            <a:custGeom>
              <a:rect b="b" l="l" r="r" t="t"/>
              <a:pathLst>
                <a:path extrusionOk="0" h="133" w="103">
                  <a:moveTo>
                    <a:pt x="0" y="133"/>
                  </a:moveTo>
                  <a:cubicBezTo>
                    <a:pt x="5" y="125"/>
                    <a:pt x="7" y="115"/>
                    <a:pt x="13" y="109"/>
                  </a:cubicBezTo>
                  <a:cubicBezTo>
                    <a:pt x="42" y="81"/>
                    <a:pt x="68" y="52"/>
                    <a:pt x="78" y="11"/>
                  </a:cubicBezTo>
                  <a:cubicBezTo>
                    <a:pt x="79" y="6"/>
                    <a:pt x="89" y="3"/>
                    <a:pt x="95" y="0"/>
                  </a:cubicBezTo>
                  <a:cubicBezTo>
                    <a:pt x="98" y="6"/>
                    <a:pt x="103" y="13"/>
                    <a:pt x="103" y="20"/>
                  </a:cubicBezTo>
                  <a:cubicBezTo>
                    <a:pt x="100" y="60"/>
                    <a:pt x="49" y="123"/>
                    <a:pt x="0" y="13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52"/>
            <p:cNvSpPr/>
            <p:nvPr/>
          </p:nvSpPr>
          <p:spPr>
            <a:xfrm>
              <a:off x="7864475" y="1058863"/>
              <a:ext cx="68263" cy="50800"/>
            </a:xfrm>
            <a:custGeom>
              <a:rect b="b" l="l" r="r" t="t"/>
              <a:pathLst>
                <a:path extrusionOk="0" h="61" w="168">
                  <a:moveTo>
                    <a:pt x="0" y="8"/>
                  </a:moveTo>
                  <a:cubicBezTo>
                    <a:pt x="14" y="5"/>
                    <a:pt x="23" y="0"/>
                    <a:pt x="30" y="2"/>
                  </a:cubicBezTo>
                  <a:cubicBezTo>
                    <a:pt x="71" y="12"/>
                    <a:pt x="112" y="22"/>
                    <a:pt x="152" y="34"/>
                  </a:cubicBezTo>
                  <a:cubicBezTo>
                    <a:pt x="159" y="36"/>
                    <a:pt x="163" y="46"/>
                    <a:pt x="168" y="53"/>
                  </a:cubicBezTo>
                  <a:cubicBezTo>
                    <a:pt x="161" y="55"/>
                    <a:pt x="154" y="61"/>
                    <a:pt x="148" y="60"/>
                  </a:cubicBezTo>
                  <a:cubicBezTo>
                    <a:pt x="103" y="49"/>
                    <a:pt x="59" y="36"/>
                    <a:pt x="14" y="24"/>
                  </a:cubicBezTo>
                  <a:cubicBezTo>
                    <a:pt x="11" y="23"/>
                    <a:pt x="9" y="18"/>
                    <a:pt x="0" y="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52"/>
            <p:cNvSpPr/>
            <p:nvPr/>
          </p:nvSpPr>
          <p:spPr>
            <a:xfrm>
              <a:off x="7993063" y="1130300"/>
              <a:ext cx="66675" cy="58738"/>
            </a:xfrm>
            <a:custGeom>
              <a:rect b="b" l="l" r="r" t="t"/>
              <a:pathLst>
                <a:path extrusionOk="0" h="72" w="161">
                  <a:moveTo>
                    <a:pt x="5" y="0"/>
                  </a:moveTo>
                  <a:cubicBezTo>
                    <a:pt x="60" y="9"/>
                    <a:pt x="111" y="29"/>
                    <a:pt x="161" y="51"/>
                  </a:cubicBezTo>
                  <a:cubicBezTo>
                    <a:pt x="161" y="71"/>
                    <a:pt x="150" y="72"/>
                    <a:pt x="139" y="69"/>
                  </a:cubicBezTo>
                  <a:cubicBezTo>
                    <a:pt x="98" y="55"/>
                    <a:pt x="56" y="41"/>
                    <a:pt x="15" y="26"/>
                  </a:cubicBezTo>
                  <a:cubicBezTo>
                    <a:pt x="9" y="24"/>
                    <a:pt x="5" y="15"/>
                    <a:pt x="0" y="9"/>
                  </a:cubicBezTo>
                  <a:cubicBezTo>
                    <a:pt x="2" y="6"/>
                    <a:pt x="3" y="3"/>
                    <a:pt x="5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52"/>
            <p:cNvSpPr/>
            <p:nvPr/>
          </p:nvSpPr>
          <p:spPr>
            <a:xfrm>
              <a:off x="8112125" y="1225550"/>
              <a:ext cx="63500" cy="79375"/>
            </a:xfrm>
            <a:custGeom>
              <a:rect b="b" l="l" r="r" t="t"/>
              <a:pathLst>
                <a:path extrusionOk="0" h="97" w="153">
                  <a:moveTo>
                    <a:pt x="0" y="12"/>
                  </a:moveTo>
                  <a:cubicBezTo>
                    <a:pt x="15" y="6"/>
                    <a:pt x="24" y="0"/>
                    <a:pt x="28" y="2"/>
                  </a:cubicBezTo>
                  <a:cubicBezTo>
                    <a:pt x="69" y="25"/>
                    <a:pt x="109" y="50"/>
                    <a:pt x="149" y="75"/>
                  </a:cubicBezTo>
                  <a:cubicBezTo>
                    <a:pt x="153" y="78"/>
                    <a:pt x="152" y="88"/>
                    <a:pt x="153" y="95"/>
                  </a:cubicBezTo>
                  <a:cubicBezTo>
                    <a:pt x="147" y="96"/>
                    <a:pt x="141" y="97"/>
                    <a:pt x="135" y="96"/>
                  </a:cubicBezTo>
                  <a:cubicBezTo>
                    <a:pt x="132" y="96"/>
                    <a:pt x="129" y="92"/>
                    <a:pt x="125" y="90"/>
                  </a:cubicBezTo>
                  <a:cubicBezTo>
                    <a:pt x="87" y="66"/>
                    <a:pt x="48" y="41"/>
                    <a:pt x="0" y="1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52"/>
            <p:cNvSpPr/>
            <p:nvPr/>
          </p:nvSpPr>
          <p:spPr>
            <a:xfrm>
              <a:off x="7593013" y="354013"/>
              <a:ext cx="38100" cy="28575"/>
            </a:xfrm>
            <a:custGeom>
              <a:rect b="b" l="l" r="r" t="t"/>
              <a:pathLst>
                <a:path extrusionOk="0" h="35" w="94">
                  <a:moveTo>
                    <a:pt x="0" y="17"/>
                  </a:moveTo>
                  <a:cubicBezTo>
                    <a:pt x="33" y="4"/>
                    <a:pt x="60" y="0"/>
                    <a:pt x="87" y="4"/>
                  </a:cubicBezTo>
                  <a:cubicBezTo>
                    <a:pt x="90" y="5"/>
                    <a:pt x="91" y="13"/>
                    <a:pt x="94" y="18"/>
                  </a:cubicBezTo>
                  <a:cubicBezTo>
                    <a:pt x="69" y="35"/>
                    <a:pt x="42" y="33"/>
                    <a:pt x="16" y="34"/>
                  </a:cubicBezTo>
                  <a:cubicBezTo>
                    <a:pt x="13" y="35"/>
                    <a:pt x="8" y="27"/>
                    <a:pt x="0" y="17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52"/>
            <p:cNvSpPr/>
            <p:nvPr/>
          </p:nvSpPr>
          <p:spPr>
            <a:xfrm>
              <a:off x="7985125" y="242888"/>
              <a:ext cx="38100" cy="31750"/>
            </a:xfrm>
            <a:custGeom>
              <a:rect b="b" l="l" r="r" t="t"/>
              <a:pathLst>
                <a:path extrusionOk="0" h="39" w="92">
                  <a:moveTo>
                    <a:pt x="85" y="0"/>
                  </a:moveTo>
                  <a:cubicBezTo>
                    <a:pt x="92" y="29"/>
                    <a:pt x="75" y="29"/>
                    <a:pt x="61" y="31"/>
                  </a:cubicBezTo>
                  <a:cubicBezTo>
                    <a:pt x="13" y="39"/>
                    <a:pt x="13" y="39"/>
                    <a:pt x="0" y="13"/>
                  </a:cubicBezTo>
                  <a:cubicBezTo>
                    <a:pt x="29" y="9"/>
                    <a:pt x="55" y="5"/>
                    <a:pt x="85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52"/>
            <p:cNvSpPr/>
            <p:nvPr/>
          </p:nvSpPr>
          <p:spPr>
            <a:xfrm>
              <a:off x="7529513" y="376238"/>
              <a:ext cx="36513" cy="26988"/>
            </a:xfrm>
            <a:custGeom>
              <a:rect b="b" l="l" r="r" t="t"/>
              <a:pathLst>
                <a:path extrusionOk="0" h="34" w="90">
                  <a:moveTo>
                    <a:pt x="0" y="13"/>
                  </a:moveTo>
                  <a:cubicBezTo>
                    <a:pt x="29" y="8"/>
                    <a:pt x="53" y="4"/>
                    <a:pt x="77" y="1"/>
                  </a:cubicBezTo>
                  <a:cubicBezTo>
                    <a:pt x="81" y="0"/>
                    <a:pt x="87" y="5"/>
                    <a:pt x="89" y="9"/>
                  </a:cubicBezTo>
                  <a:cubicBezTo>
                    <a:pt x="90" y="12"/>
                    <a:pt x="87" y="21"/>
                    <a:pt x="84" y="22"/>
                  </a:cubicBezTo>
                  <a:cubicBezTo>
                    <a:pt x="60" y="26"/>
                    <a:pt x="36" y="31"/>
                    <a:pt x="11" y="34"/>
                  </a:cubicBezTo>
                  <a:cubicBezTo>
                    <a:pt x="9" y="34"/>
                    <a:pt x="6" y="24"/>
                    <a:pt x="0" y="1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52"/>
            <p:cNvSpPr/>
            <p:nvPr/>
          </p:nvSpPr>
          <p:spPr>
            <a:xfrm>
              <a:off x="7466013" y="393700"/>
              <a:ext cx="38100" cy="34925"/>
            </a:xfrm>
            <a:custGeom>
              <a:rect b="b" l="l" r="r" t="t"/>
              <a:pathLst>
                <a:path extrusionOk="0" h="44" w="96">
                  <a:moveTo>
                    <a:pt x="96" y="20"/>
                  </a:moveTo>
                  <a:cubicBezTo>
                    <a:pt x="61" y="38"/>
                    <a:pt x="33" y="44"/>
                    <a:pt x="0" y="38"/>
                  </a:cubicBezTo>
                  <a:cubicBezTo>
                    <a:pt x="15" y="9"/>
                    <a:pt x="58" y="0"/>
                    <a:pt x="96" y="2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52"/>
            <p:cNvSpPr/>
            <p:nvPr/>
          </p:nvSpPr>
          <p:spPr>
            <a:xfrm>
              <a:off x="7400925" y="419100"/>
              <a:ext cx="34925" cy="33338"/>
            </a:xfrm>
            <a:custGeom>
              <a:rect b="b" l="l" r="r" t="t"/>
              <a:pathLst>
                <a:path extrusionOk="0" h="41" w="84">
                  <a:moveTo>
                    <a:pt x="84" y="8"/>
                  </a:moveTo>
                  <a:cubicBezTo>
                    <a:pt x="83" y="14"/>
                    <a:pt x="84" y="23"/>
                    <a:pt x="82" y="23"/>
                  </a:cubicBezTo>
                  <a:cubicBezTo>
                    <a:pt x="58" y="30"/>
                    <a:pt x="34" y="36"/>
                    <a:pt x="10" y="41"/>
                  </a:cubicBezTo>
                  <a:cubicBezTo>
                    <a:pt x="7" y="41"/>
                    <a:pt x="1" y="35"/>
                    <a:pt x="0" y="31"/>
                  </a:cubicBezTo>
                  <a:cubicBezTo>
                    <a:pt x="0" y="27"/>
                    <a:pt x="3" y="19"/>
                    <a:pt x="6" y="18"/>
                  </a:cubicBezTo>
                  <a:cubicBezTo>
                    <a:pt x="31" y="11"/>
                    <a:pt x="56" y="0"/>
                    <a:pt x="84" y="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52"/>
            <p:cNvSpPr/>
            <p:nvPr/>
          </p:nvSpPr>
          <p:spPr>
            <a:xfrm>
              <a:off x="7337425" y="447675"/>
              <a:ext cx="36513" cy="41275"/>
            </a:xfrm>
            <a:custGeom>
              <a:rect b="b" l="l" r="r" t="t"/>
              <a:pathLst>
                <a:path extrusionOk="0" h="49" w="89">
                  <a:moveTo>
                    <a:pt x="0" y="27"/>
                  </a:moveTo>
                  <a:cubicBezTo>
                    <a:pt x="26" y="9"/>
                    <a:pt x="53" y="0"/>
                    <a:pt x="82" y="3"/>
                  </a:cubicBezTo>
                  <a:cubicBezTo>
                    <a:pt x="89" y="22"/>
                    <a:pt x="78" y="27"/>
                    <a:pt x="66" y="29"/>
                  </a:cubicBezTo>
                  <a:cubicBezTo>
                    <a:pt x="44" y="33"/>
                    <a:pt x="21" y="49"/>
                    <a:pt x="0" y="27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52"/>
            <p:cNvSpPr/>
            <p:nvPr/>
          </p:nvSpPr>
          <p:spPr>
            <a:xfrm>
              <a:off x="8183563" y="182563"/>
              <a:ext cx="34925" cy="31750"/>
            </a:xfrm>
            <a:custGeom>
              <a:rect b="b" l="l" r="r" t="t"/>
              <a:pathLst>
                <a:path extrusionOk="0" h="38" w="85">
                  <a:moveTo>
                    <a:pt x="85" y="22"/>
                  </a:moveTo>
                  <a:cubicBezTo>
                    <a:pt x="60" y="37"/>
                    <a:pt x="32" y="38"/>
                    <a:pt x="4" y="37"/>
                  </a:cubicBezTo>
                  <a:cubicBezTo>
                    <a:pt x="3" y="37"/>
                    <a:pt x="0" y="19"/>
                    <a:pt x="0" y="19"/>
                  </a:cubicBezTo>
                  <a:cubicBezTo>
                    <a:pt x="18" y="14"/>
                    <a:pt x="35" y="9"/>
                    <a:pt x="53" y="6"/>
                  </a:cubicBezTo>
                  <a:cubicBezTo>
                    <a:pt x="64" y="4"/>
                    <a:pt x="78" y="0"/>
                    <a:pt x="85" y="2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52"/>
            <p:cNvSpPr/>
            <p:nvPr/>
          </p:nvSpPr>
          <p:spPr>
            <a:xfrm>
              <a:off x="8245475" y="165100"/>
              <a:ext cx="38100" cy="31750"/>
            </a:xfrm>
            <a:custGeom>
              <a:rect b="b" l="l" r="r" t="t"/>
              <a:pathLst>
                <a:path extrusionOk="0" h="38" w="90">
                  <a:moveTo>
                    <a:pt x="90" y="12"/>
                  </a:moveTo>
                  <a:cubicBezTo>
                    <a:pt x="53" y="36"/>
                    <a:pt x="21" y="38"/>
                    <a:pt x="0" y="19"/>
                  </a:cubicBezTo>
                  <a:cubicBezTo>
                    <a:pt x="24" y="0"/>
                    <a:pt x="51" y="2"/>
                    <a:pt x="78" y="0"/>
                  </a:cubicBezTo>
                  <a:cubicBezTo>
                    <a:pt x="81" y="0"/>
                    <a:pt x="86" y="8"/>
                    <a:pt x="90" y="1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52"/>
            <p:cNvSpPr/>
            <p:nvPr/>
          </p:nvSpPr>
          <p:spPr>
            <a:xfrm>
              <a:off x="8116888" y="207963"/>
              <a:ext cx="36513" cy="25400"/>
            </a:xfrm>
            <a:custGeom>
              <a:rect b="b" l="l" r="r" t="t"/>
              <a:pathLst>
                <a:path extrusionOk="0" h="32" w="87">
                  <a:moveTo>
                    <a:pt x="87" y="16"/>
                  </a:moveTo>
                  <a:cubicBezTo>
                    <a:pt x="79" y="20"/>
                    <a:pt x="71" y="25"/>
                    <a:pt x="62" y="27"/>
                  </a:cubicBezTo>
                  <a:cubicBezTo>
                    <a:pt x="44" y="30"/>
                    <a:pt x="25" y="31"/>
                    <a:pt x="7" y="32"/>
                  </a:cubicBezTo>
                  <a:cubicBezTo>
                    <a:pt x="5" y="32"/>
                    <a:pt x="0" y="27"/>
                    <a:pt x="1" y="24"/>
                  </a:cubicBezTo>
                  <a:cubicBezTo>
                    <a:pt x="1" y="19"/>
                    <a:pt x="3" y="13"/>
                    <a:pt x="6" y="11"/>
                  </a:cubicBezTo>
                  <a:cubicBezTo>
                    <a:pt x="17" y="2"/>
                    <a:pt x="67" y="0"/>
                    <a:pt x="87" y="1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52"/>
            <p:cNvSpPr/>
            <p:nvPr/>
          </p:nvSpPr>
          <p:spPr>
            <a:xfrm>
              <a:off x="7920038" y="263525"/>
              <a:ext cx="38100" cy="26988"/>
            </a:xfrm>
            <a:custGeom>
              <a:rect b="b" l="l" r="r" t="t"/>
              <a:pathLst>
                <a:path extrusionOk="0" h="32" w="95">
                  <a:moveTo>
                    <a:pt x="95" y="15"/>
                  </a:moveTo>
                  <a:cubicBezTo>
                    <a:pt x="64" y="32"/>
                    <a:pt x="36" y="32"/>
                    <a:pt x="9" y="30"/>
                  </a:cubicBezTo>
                  <a:cubicBezTo>
                    <a:pt x="0" y="14"/>
                    <a:pt x="9" y="8"/>
                    <a:pt x="20" y="6"/>
                  </a:cubicBezTo>
                  <a:cubicBezTo>
                    <a:pt x="41" y="3"/>
                    <a:pt x="62" y="1"/>
                    <a:pt x="82" y="1"/>
                  </a:cubicBezTo>
                  <a:cubicBezTo>
                    <a:pt x="85" y="0"/>
                    <a:pt x="89" y="7"/>
                    <a:pt x="95" y="1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52"/>
            <p:cNvSpPr/>
            <p:nvPr/>
          </p:nvSpPr>
          <p:spPr>
            <a:xfrm>
              <a:off x="7854950" y="280988"/>
              <a:ext cx="36513" cy="31750"/>
            </a:xfrm>
            <a:custGeom>
              <a:rect b="b" l="l" r="r" t="t"/>
              <a:pathLst>
                <a:path extrusionOk="0" h="39" w="90">
                  <a:moveTo>
                    <a:pt x="0" y="28"/>
                  </a:moveTo>
                  <a:cubicBezTo>
                    <a:pt x="8" y="19"/>
                    <a:pt x="11" y="10"/>
                    <a:pt x="16" y="9"/>
                  </a:cubicBezTo>
                  <a:cubicBezTo>
                    <a:pt x="36" y="5"/>
                    <a:pt x="55" y="2"/>
                    <a:pt x="75" y="0"/>
                  </a:cubicBezTo>
                  <a:cubicBezTo>
                    <a:pt x="80" y="0"/>
                    <a:pt x="88" y="5"/>
                    <a:pt x="89" y="10"/>
                  </a:cubicBezTo>
                  <a:cubicBezTo>
                    <a:pt x="90" y="14"/>
                    <a:pt x="85" y="23"/>
                    <a:pt x="81" y="24"/>
                  </a:cubicBezTo>
                  <a:cubicBezTo>
                    <a:pt x="56" y="30"/>
                    <a:pt x="31" y="39"/>
                    <a:pt x="0" y="28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52"/>
            <p:cNvSpPr/>
            <p:nvPr/>
          </p:nvSpPr>
          <p:spPr>
            <a:xfrm>
              <a:off x="7791450" y="292100"/>
              <a:ext cx="36513" cy="33338"/>
            </a:xfrm>
            <a:custGeom>
              <a:rect b="b" l="l" r="r" t="t"/>
              <a:pathLst>
                <a:path extrusionOk="0" h="41" w="90">
                  <a:moveTo>
                    <a:pt x="90" y="26"/>
                  </a:moveTo>
                  <a:cubicBezTo>
                    <a:pt x="65" y="40"/>
                    <a:pt x="37" y="41"/>
                    <a:pt x="9" y="41"/>
                  </a:cubicBezTo>
                  <a:cubicBezTo>
                    <a:pt x="6" y="41"/>
                    <a:pt x="2" y="34"/>
                    <a:pt x="1" y="29"/>
                  </a:cubicBezTo>
                  <a:cubicBezTo>
                    <a:pt x="0" y="27"/>
                    <a:pt x="3" y="20"/>
                    <a:pt x="6" y="20"/>
                  </a:cubicBezTo>
                  <a:cubicBezTo>
                    <a:pt x="32" y="15"/>
                    <a:pt x="57" y="0"/>
                    <a:pt x="85" y="14"/>
                  </a:cubicBezTo>
                  <a:cubicBezTo>
                    <a:pt x="87" y="15"/>
                    <a:pt x="87" y="19"/>
                    <a:pt x="90" y="2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52"/>
            <p:cNvSpPr/>
            <p:nvPr/>
          </p:nvSpPr>
          <p:spPr>
            <a:xfrm>
              <a:off x="7659688" y="334963"/>
              <a:ext cx="36513" cy="31750"/>
            </a:xfrm>
            <a:custGeom>
              <a:rect b="b" l="l" r="r" t="t"/>
              <a:pathLst>
                <a:path extrusionOk="0" h="37" w="87">
                  <a:moveTo>
                    <a:pt x="0" y="17"/>
                  </a:moveTo>
                  <a:cubicBezTo>
                    <a:pt x="24" y="0"/>
                    <a:pt x="50" y="3"/>
                    <a:pt x="76" y="2"/>
                  </a:cubicBezTo>
                  <a:cubicBezTo>
                    <a:pt x="79" y="2"/>
                    <a:pt x="84" y="7"/>
                    <a:pt x="86" y="11"/>
                  </a:cubicBezTo>
                  <a:cubicBezTo>
                    <a:pt x="87" y="13"/>
                    <a:pt x="85" y="19"/>
                    <a:pt x="83" y="21"/>
                  </a:cubicBezTo>
                  <a:cubicBezTo>
                    <a:pt x="72" y="31"/>
                    <a:pt x="18" y="37"/>
                    <a:pt x="4" y="29"/>
                  </a:cubicBezTo>
                  <a:cubicBezTo>
                    <a:pt x="2" y="27"/>
                    <a:pt x="2" y="22"/>
                    <a:pt x="0" y="17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52"/>
            <p:cNvSpPr/>
            <p:nvPr/>
          </p:nvSpPr>
          <p:spPr>
            <a:xfrm>
              <a:off x="8440738" y="79375"/>
              <a:ext cx="34925" cy="36513"/>
            </a:xfrm>
            <a:custGeom>
              <a:rect b="b" l="l" r="r" t="t"/>
              <a:pathLst>
                <a:path extrusionOk="0" h="44" w="85">
                  <a:moveTo>
                    <a:pt x="85" y="11"/>
                  </a:moveTo>
                  <a:cubicBezTo>
                    <a:pt x="81" y="17"/>
                    <a:pt x="79" y="26"/>
                    <a:pt x="73" y="28"/>
                  </a:cubicBezTo>
                  <a:cubicBezTo>
                    <a:pt x="55" y="34"/>
                    <a:pt x="35" y="39"/>
                    <a:pt x="16" y="43"/>
                  </a:cubicBezTo>
                  <a:cubicBezTo>
                    <a:pt x="11" y="44"/>
                    <a:pt x="3" y="39"/>
                    <a:pt x="1" y="35"/>
                  </a:cubicBezTo>
                  <a:cubicBezTo>
                    <a:pt x="0" y="31"/>
                    <a:pt x="4" y="21"/>
                    <a:pt x="8" y="20"/>
                  </a:cubicBezTo>
                  <a:cubicBezTo>
                    <a:pt x="31" y="12"/>
                    <a:pt x="55" y="7"/>
                    <a:pt x="78" y="0"/>
                  </a:cubicBezTo>
                  <a:cubicBezTo>
                    <a:pt x="81" y="4"/>
                    <a:pt x="83" y="7"/>
                    <a:pt x="85" y="1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52"/>
            <p:cNvSpPr/>
            <p:nvPr/>
          </p:nvSpPr>
          <p:spPr>
            <a:xfrm>
              <a:off x="8375650" y="111125"/>
              <a:ext cx="36513" cy="38100"/>
            </a:xfrm>
            <a:custGeom>
              <a:rect b="b" l="l" r="r" t="t"/>
              <a:pathLst>
                <a:path extrusionOk="0" h="47" w="86">
                  <a:moveTo>
                    <a:pt x="86" y="14"/>
                  </a:moveTo>
                  <a:cubicBezTo>
                    <a:pt x="64" y="40"/>
                    <a:pt x="23" y="47"/>
                    <a:pt x="0" y="29"/>
                  </a:cubicBezTo>
                  <a:cubicBezTo>
                    <a:pt x="24" y="6"/>
                    <a:pt x="60" y="0"/>
                    <a:pt x="86" y="14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52"/>
            <p:cNvSpPr/>
            <p:nvPr/>
          </p:nvSpPr>
          <p:spPr>
            <a:xfrm>
              <a:off x="7208838" y="523875"/>
              <a:ext cx="36513" cy="41275"/>
            </a:xfrm>
            <a:custGeom>
              <a:rect b="b" l="l" r="r" t="t"/>
              <a:pathLst>
                <a:path extrusionOk="0" h="51" w="92">
                  <a:moveTo>
                    <a:pt x="0" y="35"/>
                  </a:moveTo>
                  <a:cubicBezTo>
                    <a:pt x="30" y="21"/>
                    <a:pt x="52" y="10"/>
                    <a:pt x="74" y="1"/>
                  </a:cubicBezTo>
                  <a:cubicBezTo>
                    <a:pt x="78" y="0"/>
                    <a:pt x="86" y="4"/>
                    <a:pt x="90" y="8"/>
                  </a:cubicBezTo>
                  <a:cubicBezTo>
                    <a:pt x="92" y="10"/>
                    <a:pt x="90" y="20"/>
                    <a:pt x="87" y="22"/>
                  </a:cubicBezTo>
                  <a:cubicBezTo>
                    <a:pt x="65" y="32"/>
                    <a:pt x="42" y="41"/>
                    <a:pt x="19" y="50"/>
                  </a:cubicBezTo>
                  <a:cubicBezTo>
                    <a:pt x="17" y="51"/>
                    <a:pt x="12" y="44"/>
                    <a:pt x="0" y="35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52"/>
            <p:cNvSpPr/>
            <p:nvPr/>
          </p:nvSpPr>
          <p:spPr>
            <a:xfrm>
              <a:off x="7723188" y="317500"/>
              <a:ext cx="39688" cy="25400"/>
            </a:xfrm>
            <a:custGeom>
              <a:rect b="b" l="l" r="r" t="t"/>
              <a:pathLst>
                <a:path extrusionOk="0" h="32" w="98">
                  <a:moveTo>
                    <a:pt x="0" y="12"/>
                  </a:moveTo>
                  <a:cubicBezTo>
                    <a:pt x="34" y="7"/>
                    <a:pt x="61" y="3"/>
                    <a:pt x="85" y="0"/>
                  </a:cubicBezTo>
                  <a:cubicBezTo>
                    <a:pt x="98" y="16"/>
                    <a:pt x="92" y="24"/>
                    <a:pt x="80" y="26"/>
                  </a:cubicBezTo>
                  <a:cubicBezTo>
                    <a:pt x="58" y="30"/>
                    <a:pt x="36" y="31"/>
                    <a:pt x="14" y="32"/>
                  </a:cubicBezTo>
                  <a:cubicBezTo>
                    <a:pt x="11" y="32"/>
                    <a:pt x="9" y="25"/>
                    <a:pt x="0" y="1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52"/>
            <p:cNvSpPr/>
            <p:nvPr/>
          </p:nvSpPr>
          <p:spPr>
            <a:xfrm>
              <a:off x="8312150" y="139700"/>
              <a:ext cx="34925" cy="31750"/>
            </a:xfrm>
            <a:custGeom>
              <a:rect b="b" l="l" r="r" t="t"/>
              <a:pathLst>
                <a:path extrusionOk="0" h="38" w="87">
                  <a:moveTo>
                    <a:pt x="87" y="9"/>
                  </a:moveTo>
                  <a:cubicBezTo>
                    <a:pt x="83" y="15"/>
                    <a:pt x="80" y="25"/>
                    <a:pt x="75" y="26"/>
                  </a:cubicBezTo>
                  <a:cubicBezTo>
                    <a:pt x="56" y="31"/>
                    <a:pt x="37" y="35"/>
                    <a:pt x="17" y="37"/>
                  </a:cubicBezTo>
                  <a:cubicBezTo>
                    <a:pt x="12" y="38"/>
                    <a:pt x="6" y="30"/>
                    <a:pt x="0" y="26"/>
                  </a:cubicBezTo>
                  <a:cubicBezTo>
                    <a:pt x="4" y="21"/>
                    <a:pt x="7" y="13"/>
                    <a:pt x="12" y="12"/>
                  </a:cubicBezTo>
                  <a:cubicBezTo>
                    <a:pt x="34" y="7"/>
                    <a:pt x="57" y="4"/>
                    <a:pt x="80" y="0"/>
                  </a:cubicBezTo>
                  <a:cubicBezTo>
                    <a:pt x="82" y="3"/>
                    <a:pt x="84" y="6"/>
                    <a:pt x="87" y="9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52"/>
            <p:cNvSpPr/>
            <p:nvPr/>
          </p:nvSpPr>
          <p:spPr>
            <a:xfrm>
              <a:off x="8051800" y="220663"/>
              <a:ext cx="36513" cy="33338"/>
            </a:xfrm>
            <a:custGeom>
              <a:rect b="b" l="l" r="r" t="t"/>
              <a:pathLst>
                <a:path extrusionOk="0" h="42" w="88">
                  <a:moveTo>
                    <a:pt x="88" y="16"/>
                  </a:moveTo>
                  <a:cubicBezTo>
                    <a:pt x="83" y="22"/>
                    <a:pt x="81" y="31"/>
                    <a:pt x="77" y="31"/>
                  </a:cubicBezTo>
                  <a:cubicBezTo>
                    <a:pt x="56" y="36"/>
                    <a:pt x="36" y="40"/>
                    <a:pt x="15" y="42"/>
                  </a:cubicBezTo>
                  <a:cubicBezTo>
                    <a:pt x="11" y="42"/>
                    <a:pt x="4" y="36"/>
                    <a:pt x="1" y="32"/>
                  </a:cubicBezTo>
                  <a:cubicBezTo>
                    <a:pt x="0" y="29"/>
                    <a:pt x="4" y="19"/>
                    <a:pt x="6" y="19"/>
                  </a:cubicBezTo>
                  <a:cubicBezTo>
                    <a:pt x="32" y="14"/>
                    <a:pt x="58" y="0"/>
                    <a:pt x="88" y="16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52"/>
            <p:cNvSpPr/>
            <p:nvPr/>
          </p:nvSpPr>
          <p:spPr>
            <a:xfrm>
              <a:off x="7273925" y="479425"/>
              <a:ext cx="33338" cy="36513"/>
            </a:xfrm>
            <a:custGeom>
              <a:rect b="b" l="l" r="r" t="t"/>
              <a:pathLst>
                <a:path extrusionOk="0" h="44" w="81">
                  <a:moveTo>
                    <a:pt x="0" y="44"/>
                  </a:moveTo>
                  <a:cubicBezTo>
                    <a:pt x="5" y="15"/>
                    <a:pt x="43" y="0"/>
                    <a:pt x="81" y="9"/>
                  </a:cubicBezTo>
                  <a:cubicBezTo>
                    <a:pt x="72" y="31"/>
                    <a:pt x="52" y="40"/>
                    <a:pt x="0" y="44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52"/>
            <p:cNvSpPr/>
            <p:nvPr/>
          </p:nvSpPr>
          <p:spPr>
            <a:xfrm>
              <a:off x="7169150" y="588963"/>
              <a:ext cx="20638" cy="68263"/>
            </a:xfrm>
            <a:custGeom>
              <a:rect b="b" l="l" r="r" t="t"/>
              <a:pathLst>
                <a:path extrusionOk="0" h="84" w="53">
                  <a:moveTo>
                    <a:pt x="40" y="0"/>
                  </a:moveTo>
                  <a:cubicBezTo>
                    <a:pt x="45" y="2"/>
                    <a:pt x="47" y="3"/>
                    <a:pt x="47" y="4"/>
                  </a:cubicBezTo>
                  <a:cubicBezTo>
                    <a:pt x="49" y="9"/>
                    <a:pt x="53" y="17"/>
                    <a:pt x="51" y="20"/>
                  </a:cubicBezTo>
                  <a:cubicBezTo>
                    <a:pt x="41" y="40"/>
                    <a:pt x="31" y="61"/>
                    <a:pt x="16" y="76"/>
                  </a:cubicBezTo>
                  <a:cubicBezTo>
                    <a:pt x="8" y="84"/>
                    <a:pt x="0" y="70"/>
                    <a:pt x="2" y="60"/>
                  </a:cubicBezTo>
                  <a:cubicBezTo>
                    <a:pt x="6" y="36"/>
                    <a:pt x="18" y="15"/>
                    <a:pt x="40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52"/>
            <p:cNvSpPr/>
            <p:nvPr/>
          </p:nvSpPr>
          <p:spPr>
            <a:xfrm>
              <a:off x="8502650" y="38100"/>
              <a:ext cx="34925" cy="39688"/>
            </a:xfrm>
            <a:custGeom>
              <a:rect b="b" l="l" r="r" t="t"/>
              <a:pathLst>
                <a:path extrusionOk="0" h="48" w="88">
                  <a:moveTo>
                    <a:pt x="0" y="42"/>
                  </a:moveTo>
                  <a:cubicBezTo>
                    <a:pt x="23" y="11"/>
                    <a:pt x="55" y="14"/>
                    <a:pt x="85" y="0"/>
                  </a:cubicBezTo>
                  <a:cubicBezTo>
                    <a:pt x="85" y="12"/>
                    <a:pt x="88" y="20"/>
                    <a:pt x="86" y="23"/>
                  </a:cubicBezTo>
                  <a:cubicBezTo>
                    <a:pt x="72" y="38"/>
                    <a:pt x="30" y="48"/>
                    <a:pt x="0" y="42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52"/>
            <p:cNvSpPr/>
            <p:nvPr/>
          </p:nvSpPr>
          <p:spPr>
            <a:xfrm>
              <a:off x="7185025" y="700088"/>
              <a:ext cx="15875" cy="30163"/>
            </a:xfrm>
            <a:custGeom>
              <a:rect b="b" l="l" r="r" t="t"/>
              <a:pathLst>
                <a:path extrusionOk="0" h="36" w="38">
                  <a:moveTo>
                    <a:pt x="34" y="33"/>
                  </a:moveTo>
                  <a:cubicBezTo>
                    <a:pt x="29" y="35"/>
                    <a:pt x="28" y="36"/>
                    <a:pt x="27" y="36"/>
                  </a:cubicBezTo>
                  <a:cubicBezTo>
                    <a:pt x="11" y="34"/>
                    <a:pt x="0" y="27"/>
                    <a:pt x="1" y="10"/>
                  </a:cubicBezTo>
                  <a:cubicBezTo>
                    <a:pt x="2" y="7"/>
                    <a:pt x="10" y="0"/>
                    <a:pt x="13" y="1"/>
                  </a:cubicBezTo>
                  <a:cubicBezTo>
                    <a:pt x="27" y="6"/>
                    <a:pt x="38" y="14"/>
                    <a:pt x="34" y="33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oogle Shape;388;p52"/>
          <p:cNvGrpSpPr/>
          <p:nvPr/>
        </p:nvGrpSpPr>
        <p:grpSpPr>
          <a:xfrm>
            <a:off x="5677067" y="1967289"/>
            <a:ext cx="875422" cy="1353345"/>
            <a:chOff x="7478257" y="2193205"/>
            <a:chExt cx="453000" cy="700308"/>
          </a:xfrm>
        </p:grpSpPr>
        <p:sp>
          <p:nvSpPr>
            <p:cNvPr id="389" name="Google Shape;389;p52"/>
            <p:cNvSpPr/>
            <p:nvPr/>
          </p:nvSpPr>
          <p:spPr>
            <a:xfrm>
              <a:off x="7478257" y="2786413"/>
              <a:ext cx="453000" cy="107100"/>
            </a:xfrm>
            <a:prstGeom prst="ellipse">
              <a:avLst/>
            </a:prstGeom>
            <a:solidFill>
              <a:schemeClr val="dk2">
                <a:alpha val="298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7478257" y="2193205"/>
              <a:ext cx="452893" cy="646699"/>
            </a:xfrm>
            <a:custGeom>
              <a:rect b="b" l="l" r="r" t="t"/>
              <a:pathLst>
                <a:path extrusionOk="0" h="315" w="221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52"/>
          <p:cNvGrpSpPr/>
          <p:nvPr/>
        </p:nvGrpSpPr>
        <p:grpSpPr>
          <a:xfrm>
            <a:off x="3716305" y="885887"/>
            <a:ext cx="775400" cy="1198717"/>
            <a:chOff x="7478257" y="2193205"/>
            <a:chExt cx="453000" cy="700308"/>
          </a:xfrm>
        </p:grpSpPr>
        <p:sp>
          <p:nvSpPr>
            <p:cNvPr id="392" name="Google Shape;392;p52"/>
            <p:cNvSpPr/>
            <p:nvPr/>
          </p:nvSpPr>
          <p:spPr>
            <a:xfrm>
              <a:off x="7478257" y="2786413"/>
              <a:ext cx="453000" cy="107100"/>
            </a:xfrm>
            <a:prstGeom prst="ellipse">
              <a:avLst/>
            </a:prstGeom>
            <a:solidFill>
              <a:schemeClr val="dk2">
                <a:alpha val="298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52"/>
            <p:cNvSpPr/>
            <p:nvPr/>
          </p:nvSpPr>
          <p:spPr>
            <a:xfrm>
              <a:off x="7478257" y="2193205"/>
              <a:ext cx="452893" cy="646699"/>
            </a:xfrm>
            <a:custGeom>
              <a:rect b="b" l="l" r="r" t="t"/>
              <a:pathLst>
                <a:path extrusionOk="0" h="315" w="221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52"/>
          <p:cNvGrpSpPr/>
          <p:nvPr/>
        </p:nvGrpSpPr>
        <p:grpSpPr>
          <a:xfrm>
            <a:off x="6627356" y="110510"/>
            <a:ext cx="660202" cy="1020629"/>
            <a:chOff x="7478257" y="2193205"/>
            <a:chExt cx="453000" cy="700308"/>
          </a:xfrm>
        </p:grpSpPr>
        <p:sp>
          <p:nvSpPr>
            <p:cNvPr id="395" name="Google Shape;395;p52"/>
            <p:cNvSpPr/>
            <p:nvPr/>
          </p:nvSpPr>
          <p:spPr>
            <a:xfrm>
              <a:off x="7478257" y="2786413"/>
              <a:ext cx="453000" cy="107100"/>
            </a:xfrm>
            <a:prstGeom prst="ellipse">
              <a:avLst/>
            </a:prstGeom>
            <a:solidFill>
              <a:schemeClr val="dk2">
                <a:alpha val="2980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52"/>
            <p:cNvSpPr/>
            <p:nvPr/>
          </p:nvSpPr>
          <p:spPr>
            <a:xfrm>
              <a:off x="7478257" y="2193205"/>
              <a:ext cx="452893" cy="646699"/>
            </a:xfrm>
            <a:custGeom>
              <a:rect b="b" l="l" r="r" t="t"/>
              <a:pathLst>
                <a:path extrusionOk="0" h="315" w="221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52"/>
          <p:cNvSpPr txBox="1"/>
          <p:nvPr/>
        </p:nvSpPr>
        <p:spPr>
          <a:xfrm>
            <a:off x="1609010" y="3096914"/>
            <a:ext cx="7755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"/>
              <a:buNone/>
            </a:pPr>
            <a:r>
              <a:rPr b="0" i="0" lang="en-GB" sz="3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38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8" name="Google Shape;398;p52"/>
          <p:cNvSpPr txBox="1"/>
          <p:nvPr/>
        </p:nvSpPr>
        <p:spPr>
          <a:xfrm>
            <a:off x="5727395" y="2130611"/>
            <a:ext cx="775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oto Sans"/>
              <a:buNone/>
            </a:pPr>
            <a:r>
              <a:rPr b="0" i="0" lang="en-GB" sz="3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30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9" name="Google Shape;399;p52"/>
          <p:cNvSpPr txBox="1"/>
          <p:nvPr/>
        </p:nvSpPr>
        <p:spPr>
          <a:xfrm>
            <a:off x="3706308" y="1013309"/>
            <a:ext cx="775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"/>
              <a:buNone/>
            </a:pPr>
            <a:r>
              <a:rPr b="0" i="0" lang="en-GB" sz="2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26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0" name="Google Shape;400;p52"/>
          <p:cNvSpPr txBox="1"/>
          <p:nvPr/>
        </p:nvSpPr>
        <p:spPr>
          <a:xfrm>
            <a:off x="6582859" y="219561"/>
            <a:ext cx="775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Noto Sans"/>
              <a:buNone/>
            </a:pPr>
            <a:r>
              <a:rPr b="0" i="0" lang="en-GB" sz="23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23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52"/>
          <p:cNvSpPr txBox="1"/>
          <p:nvPr/>
        </p:nvSpPr>
        <p:spPr>
          <a:xfrm>
            <a:off x="340490" y="2307509"/>
            <a:ext cx="1624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pen Sans"/>
              <a:buNone/>
            </a:pPr>
            <a:r>
              <a:rPr lang="en-GB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</a:t>
            </a:r>
            <a:endParaRPr b="0" i="0" sz="15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2" name="Google Shape;402;p52"/>
          <p:cNvSpPr txBox="1"/>
          <p:nvPr/>
        </p:nvSpPr>
        <p:spPr>
          <a:xfrm>
            <a:off x="1815517" y="1240709"/>
            <a:ext cx="1812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pen Sans"/>
              <a:buNone/>
            </a:pPr>
            <a:r>
              <a:rPr b="0" i="0" lang="en-GB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IMPLEMENTATION</a:t>
            </a:r>
            <a:endParaRPr sz="11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pen Sans"/>
              <a:buNone/>
            </a:pPr>
            <a:r>
              <a:rPr lang="en-GB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&amp; RESULTS</a:t>
            </a:r>
            <a:endParaRPr b="0" i="0" sz="15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52"/>
          <p:cNvSpPr txBox="1"/>
          <p:nvPr/>
        </p:nvSpPr>
        <p:spPr>
          <a:xfrm>
            <a:off x="6982076" y="2859959"/>
            <a:ext cx="1448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pen Sans"/>
              <a:buNone/>
            </a:pPr>
            <a:r>
              <a:rPr lang="en-GB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Analysis</a:t>
            </a:r>
            <a:endParaRPr b="0" i="0" sz="15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4" name="Google Shape;404;p52"/>
          <p:cNvSpPr txBox="1"/>
          <p:nvPr/>
        </p:nvSpPr>
        <p:spPr>
          <a:xfrm>
            <a:off x="7581379" y="815260"/>
            <a:ext cx="1448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pen Sans"/>
              <a:buNone/>
            </a:pPr>
            <a:r>
              <a:rPr lang="en-GB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Solution</a:t>
            </a:r>
            <a:endParaRPr b="0" i="0" sz="15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5" name="Google Shape;405;p52"/>
          <p:cNvSpPr/>
          <p:nvPr/>
        </p:nvSpPr>
        <p:spPr>
          <a:xfrm>
            <a:off x="411005" y="2188198"/>
            <a:ext cx="1316400" cy="6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2"/>
          <p:cNvSpPr/>
          <p:nvPr/>
        </p:nvSpPr>
        <p:spPr>
          <a:xfrm>
            <a:off x="2195354" y="1134098"/>
            <a:ext cx="1316400" cy="64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2"/>
          <p:cNvSpPr/>
          <p:nvPr/>
        </p:nvSpPr>
        <p:spPr>
          <a:xfrm>
            <a:off x="7021355" y="2740648"/>
            <a:ext cx="1316400" cy="6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2"/>
          <p:cNvSpPr/>
          <p:nvPr/>
        </p:nvSpPr>
        <p:spPr>
          <a:xfrm>
            <a:off x="7605555" y="727697"/>
            <a:ext cx="1316400" cy="64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52"/>
          <p:cNvCxnSpPr/>
          <p:nvPr/>
        </p:nvCxnSpPr>
        <p:spPr>
          <a:xfrm>
            <a:off x="748750" y="704897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/>
          <p:nvPr>
            <p:ph type="title"/>
          </p:nvPr>
        </p:nvSpPr>
        <p:spPr>
          <a:xfrm>
            <a:off x="3762669" y="3177750"/>
            <a:ext cx="4747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Fisher</a:t>
            </a:r>
            <a:endParaRPr/>
          </a:p>
        </p:txBody>
      </p:sp>
      <p:sp>
        <p:nvSpPr>
          <p:cNvPr id="415" name="Google Shape;415;p53"/>
          <p:cNvSpPr txBox="1"/>
          <p:nvPr>
            <p:ph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6360000" dist="28575">
              <a:schemeClr val="accent1">
                <a:alpha val="4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02</a:t>
            </a:r>
            <a:endParaRPr/>
          </a:p>
        </p:txBody>
      </p:sp>
      <p:cxnSp>
        <p:nvCxnSpPr>
          <p:cNvPr id="416" name="Google Shape;416;p5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417" name="Google Shape;417;p5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GB"/>
              <a:t>Mustafa Abou Khatwa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4"/>
          <p:cNvSpPr txBox="1"/>
          <p:nvPr/>
        </p:nvSpPr>
        <p:spPr>
          <a:xfrm>
            <a:off x="425862" y="249026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Motivation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54"/>
          <p:cNvSpPr/>
          <p:nvPr/>
        </p:nvSpPr>
        <p:spPr>
          <a:xfrm rot="1813600">
            <a:off x="3284157" y="717655"/>
            <a:ext cx="3615455" cy="3714142"/>
          </a:xfrm>
          <a:prstGeom prst="blockArc">
            <a:avLst>
              <a:gd fmla="val 15281230" name="adj1"/>
              <a:gd fmla="val 17254064" name="adj2"/>
              <a:gd fmla="val 2798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4"/>
          <p:cNvSpPr/>
          <p:nvPr/>
        </p:nvSpPr>
        <p:spPr>
          <a:xfrm rot="-886109">
            <a:off x="3284466" y="717096"/>
            <a:ext cx="3615337" cy="3713353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rgbClr val="FCB414"/>
          </a:solidFill>
          <a:ln>
            <a:noFill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4"/>
          <p:cNvSpPr/>
          <p:nvPr/>
        </p:nvSpPr>
        <p:spPr>
          <a:xfrm rot="-3586257">
            <a:off x="3284823" y="717016"/>
            <a:ext cx="3615196" cy="3714142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54"/>
          <p:cNvSpPr/>
          <p:nvPr/>
        </p:nvSpPr>
        <p:spPr>
          <a:xfrm rot="-6303400">
            <a:off x="3280122" y="714362"/>
            <a:ext cx="3615834" cy="3713925"/>
          </a:xfrm>
          <a:prstGeom prst="blockArc">
            <a:avLst>
              <a:gd fmla="val 15358064" name="adj1"/>
              <a:gd fmla="val 17217353" name="adj2"/>
              <a:gd fmla="val 9023" name="adj3"/>
            </a:avLst>
          </a:prstGeom>
          <a:solidFill>
            <a:srgbClr val="FFD17D"/>
          </a:solidFill>
          <a:ln>
            <a:noFill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4"/>
          <p:cNvSpPr/>
          <p:nvPr/>
        </p:nvSpPr>
        <p:spPr>
          <a:xfrm rot="-8986400">
            <a:off x="3275988" y="711702"/>
            <a:ext cx="3615455" cy="3714142"/>
          </a:xfrm>
          <a:prstGeom prst="blockArc">
            <a:avLst>
              <a:gd fmla="val 15358064" name="adj1"/>
              <a:gd fmla="val 17122234" name="adj2"/>
              <a:gd fmla="val 11092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4"/>
          <p:cNvSpPr/>
          <p:nvPr/>
        </p:nvSpPr>
        <p:spPr>
          <a:xfrm rot="10047776">
            <a:off x="3319476" y="736726"/>
            <a:ext cx="3615406" cy="3714099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37125" lIns="74300" spcFirstLastPara="1" rIns="74300" wrap="square" tIns="3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4"/>
          <p:cNvSpPr txBox="1"/>
          <p:nvPr/>
        </p:nvSpPr>
        <p:spPr>
          <a:xfrm>
            <a:off x="425850" y="1078000"/>
            <a:ext cx="2865300" cy="3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Severe class imbalance (Neutral underrepresented, Positive dominant).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Need for interpretable linear baseline alongside Logistic Regression.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Goal: Evaluate Fisher’s discriminant with hybrid features and balancing strategies.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30" name="Google Shape;430;p54"/>
          <p:cNvCxnSpPr/>
          <p:nvPr/>
        </p:nvCxnSpPr>
        <p:spPr>
          <a:xfrm>
            <a:off x="593499" y="9492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pic>
        <p:nvPicPr>
          <p:cNvPr id="431" name="Google Shape;43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375" y="1478625"/>
            <a:ext cx="4810551" cy="22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55"/>
          <p:cNvGrpSpPr/>
          <p:nvPr/>
        </p:nvGrpSpPr>
        <p:grpSpPr>
          <a:xfrm rot="-5847958">
            <a:off x="915022" y="1139293"/>
            <a:ext cx="3027504" cy="3417088"/>
            <a:chOff x="5854496" y="1844999"/>
            <a:chExt cx="2982451" cy="3366239"/>
          </a:xfrm>
        </p:grpSpPr>
        <p:sp>
          <p:nvSpPr>
            <p:cNvPr id="437" name="Google Shape;437;p55"/>
            <p:cNvSpPr/>
            <p:nvPr/>
          </p:nvSpPr>
          <p:spPr>
            <a:xfrm>
              <a:off x="7216322" y="2235749"/>
              <a:ext cx="1378095" cy="1399315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55"/>
            <p:cNvSpPr/>
            <p:nvPr/>
          </p:nvSpPr>
          <p:spPr>
            <a:xfrm>
              <a:off x="5854496" y="1844999"/>
              <a:ext cx="1378023" cy="139924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55"/>
            <p:cNvSpPr/>
            <p:nvPr/>
          </p:nvSpPr>
          <p:spPr>
            <a:xfrm>
              <a:off x="6129161" y="3244240"/>
              <a:ext cx="1275620" cy="129526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55"/>
            <p:cNvSpPr/>
            <p:nvPr/>
          </p:nvSpPr>
          <p:spPr>
            <a:xfrm rot="-1213279">
              <a:off x="7376787" y="3735435"/>
              <a:ext cx="1275620" cy="1295262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55"/>
          <p:cNvSpPr txBox="1"/>
          <p:nvPr/>
        </p:nvSpPr>
        <p:spPr>
          <a:xfrm>
            <a:off x="4488425" y="949225"/>
            <a:ext cx="4251300" cy="4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Preparation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lphaL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Balanced training set: 49,373 samples per class.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lphaL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Lexicon-only (VADER scores) vs Hybrid (TF-IDF + lexicon).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 Design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lphaL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Custom FisherEstimator with SVD dimensionality reduction.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lphaL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Priors adjusted via prior_alpha (inverse-frequency weighting).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lphaL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Optional Neutral upsampling capped at 50,000.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rabi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Tuning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lphaL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GridSearchCV for solver, shrinkage, priors, and dimensionality.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AutoNum type="alphaLcPeriod"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Calibration with isotonic regression + threshold sweeping.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55"/>
          <p:cNvSpPr/>
          <p:nvPr/>
        </p:nvSpPr>
        <p:spPr>
          <a:xfrm>
            <a:off x="4572008" y="949213"/>
            <a:ext cx="379800" cy="379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443" name="Google Shape;443;p55"/>
          <p:cNvSpPr/>
          <p:nvPr/>
        </p:nvSpPr>
        <p:spPr>
          <a:xfrm>
            <a:off x="4572008" y="2079194"/>
            <a:ext cx="379800" cy="379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444" name="Google Shape;444;p55"/>
          <p:cNvSpPr/>
          <p:nvPr/>
        </p:nvSpPr>
        <p:spPr>
          <a:xfrm>
            <a:off x="4572008" y="3683170"/>
            <a:ext cx="379800" cy="379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445" name="Google Shape;445;p55"/>
          <p:cNvSpPr txBox="1"/>
          <p:nvPr/>
        </p:nvSpPr>
        <p:spPr>
          <a:xfrm>
            <a:off x="425862" y="249026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Methodology Overview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6" name="Google Shape;446;p55"/>
          <p:cNvCxnSpPr/>
          <p:nvPr/>
        </p:nvCxnSpPr>
        <p:spPr>
          <a:xfrm>
            <a:off x="593499" y="9492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6"/>
          <p:cNvSpPr txBox="1"/>
          <p:nvPr>
            <p:ph idx="6" type="title"/>
          </p:nvPr>
        </p:nvSpPr>
        <p:spPr>
          <a:xfrm>
            <a:off x="993638" y="1608867"/>
            <a:ext cx="20670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452" name="Google Shape;452;p56"/>
          <p:cNvSpPr txBox="1"/>
          <p:nvPr>
            <p:ph type="title"/>
          </p:nvPr>
        </p:nvSpPr>
        <p:spPr>
          <a:xfrm>
            <a:off x="3483685" y="2572748"/>
            <a:ext cx="20670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Hybrid</a:t>
            </a:r>
            <a:endParaRPr/>
          </a:p>
        </p:txBody>
      </p:sp>
      <p:sp>
        <p:nvSpPr>
          <p:cNvPr id="453" name="Google Shape;453;p56"/>
          <p:cNvSpPr txBox="1"/>
          <p:nvPr>
            <p:ph idx="2" type="title"/>
          </p:nvPr>
        </p:nvSpPr>
        <p:spPr>
          <a:xfrm>
            <a:off x="5864050" y="2572749"/>
            <a:ext cx="22863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Key Insight: </a:t>
            </a:r>
            <a:endParaRPr/>
          </a:p>
        </p:txBody>
      </p:sp>
      <p:sp>
        <p:nvSpPr>
          <p:cNvPr id="454" name="Google Shape;454;p56"/>
          <p:cNvSpPr txBox="1"/>
          <p:nvPr>
            <p:ph idx="4" type="title"/>
          </p:nvPr>
        </p:nvSpPr>
        <p:spPr>
          <a:xfrm>
            <a:off x="993635" y="2572748"/>
            <a:ext cx="20670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Lexicon-only</a:t>
            </a:r>
            <a:endParaRPr/>
          </a:p>
        </p:txBody>
      </p:sp>
      <p:sp>
        <p:nvSpPr>
          <p:cNvPr id="455" name="Google Shape;455;p56"/>
          <p:cNvSpPr txBox="1"/>
          <p:nvPr>
            <p:ph idx="7" type="title"/>
          </p:nvPr>
        </p:nvSpPr>
        <p:spPr>
          <a:xfrm>
            <a:off x="3483688" y="1608867"/>
            <a:ext cx="20670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456" name="Google Shape;456;p56"/>
          <p:cNvSpPr txBox="1"/>
          <p:nvPr>
            <p:ph idx="8" type="title"/>
          </p:nvPr>
        </p:nvSpPr>
        <p:spPr>
          <a:xfrm>
            <a:off x="5973738" y="1608867"/>
            <a:ext cx="20670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03</a:t>
            </a:r>
            <a:endParaRPr/>
          </a:p>
        </p:txBody>
      </p:sp>
      <p:cxnSp>
        <p:nvCxnSpPr>
          <p:cNvPr id="457" name="Google Shape;457;p56"/>
          <p:cNvCxnSpPr/>
          <p:nvPr/>
        </p:nvCxnSpPr>
        <p:spPr>
          <a:xfrm>
            <a:off x="1828538" y="2493555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cxnSp>
        <p:nvCxnSpPr>
          <p:cNvPr id="458" name="Google Shape;458;p56"/>
          <p:cNvCxnSpPr/>
          <p:nvPr/>
        </p:nvCxnSpPr>
        <p:spPr>
          <a:xfrm>
            <a:off x="4318588" y="2493555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cxnSp>
        <p:nvCxnSpPr>
          <p:cNvPr id="459" name="Google Shape;459;p56"/>
          <p:cNvCxnSpPr/>
          <p:nvPr/>
        </p:nvCxnSpPr>
        <p:spPr>
          <a:xfrm>
            <a:off x="6808638" y="2493555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460" name="Google Shape;460;p56"/>
          <p:cNvSpPr txBox="1"/>
          <p:nvPr>
            <p:ph idx="1" type="subTitle"/>
          </p:nvPr>
        </p:nvSpPr>
        <p:spPr>
          <a:xfrm>
            <a:off x="3483685" y="3180253"/>
            <a:ext cx="2067000" cy="14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Accuracy: 0.734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Macro-F1: 0.458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Neutral F1: 0.169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56"/>
          <p:cNvSpPr txBox="1"/>
          <p:nvPr>
            <p:ph idx="3" type="subTitle"/>
          </p:nvPr>
        </p:nvSpPr>
        <p:spPr>
          <a:xfrm>
            <a:off x="5973741" y="3180253"/>
            <a:ext cx="2067000" cy="14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GB"/>
              <a:t>Hybrid features consistently outperform lexicon-only, especially for Neutral sentiment.</a:t>
            </a:r>
            <a:endParaRPr/>
          </a:p>
        </p:txBody>
      </p:sp>
      <p:sp>
        <p:nvSpPr>
          <p:cNvPr id="462" name="Google Shape;462;p56"/>
          <p:cNvSpPr txBox="1"/>
          <p:nvPr>
            <p:ph idx="5" type="subTitle"/>
          </p:nvPr>
        </p:nvSpPr>
        <p:spPr>
          <a:xfrm>
            <a:off x="993635" y="3180253"/>
            <a:ext cx="2067000" cy="14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Accuracy: 0.787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Macro-F1: 0.439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GB"/>
              <a:t>Neutral F1: 0.085</a:t>
            </a:r>
            <a:endParaRPr/>
          </a:p>
        </p:txBody>
      </p:sp>
      <p:sp>
        <p:nvSpPr>
          <p:cNvPr id="463" name="Google Shape;463;p56"/>
          <p:cNvSpPr txBox="1"/>
          <p:nvPr/>
        </p:nvSpPr>
        <p:spPr>
          <a:xfrm>
            <a:off x="425850" y="249025"/>
            <a:ext cx="80730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Lexicon vs Hybrid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4" name="Google Shape;464;p56"/>
          <p:cNvCxnSpPr/>
          <p:nvPr/>
        </p:nvCxnSpPr>
        <p:spPr>
          <a:xfrm>
            <a:off x="993700" y="907964"/>
            <a:ext cx="7047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7"/>
          <p:cNvSpPr txBox="1"/>
          <p:nvPr/>
        </p:nvSpPr>
        <p:spPr>
          <a:xfrm>
            <a:off x="425850" y="249025"/>
            <a:ext cx="80730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Lexicon vs Hybrid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0" name="Google Shape;470;p57"/>
          <p:cNvCxnSpPr/>
          <p:nvPr/>
        </p:nvCxnSpPr>
        <p:spPr>
          <a:xfrm>
            <a:off x="993700" y="907964"/>
            <a:ext cx="7047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graphicFrame>
        <p:nvGraphicFramePr>
          <p:cNvPr id="471" name="Google Shape;471;p57"/>
          <p:cNvGraphicFramePr/>
          <p:nvPr/>
        </p:nvGraphicFramePr>
        <p:xfrm>
          <a:off x="188175" y="196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{C45E56D4-E541-4135-832B-8C28300683B9}</a:tableStyleId>
              </a:tblPr>
              <a:tblGrid>
                <a:gridCol w="692525"/>
                <a:gridCol w="857200"/>
                <a:gridCol w="1045400"/>
                <a:gridCol w="871150"/>
                <a:gridCol w="669400"/>
                <a:gridCol w="641875"/>
                <a:gridCol w="770275"/>
                <a:gridCol w="797800"/>
                <a:gridCol w="706075"/>
                <a:gridCol w="761125"/>
                <a:gridCol w="1008725"/>
              </a:tblGrid>
              <a:tr h="74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Macro Precision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Macro Recall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Macro F1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Micro F1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ROC-AUC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F1-negative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F1-neutral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F1-positive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CV Mean ± Std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56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Lexicon-only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0.78</a:t>
                      </a: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7 </a:t>
                      </a: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0.462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0.427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0.439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0.787⬆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0.719 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0.346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0.085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0.886 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nan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  <a:tr h="756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Hybrid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0.734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0.465 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0.461 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0.458 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0.734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0.718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0.352 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0.169 ⬆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0.852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lt1"/>
                          </a:solidFill>
                        </a:rPr>
                        <a:t>nan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8"/>
          <p:cNvSpPr txBox="1"/>
          <p:nvPr/>
        </p:nvSpPr>
        <p:spPr>
          <a:xfrm>
            <a:off x="425850" y="249025"/>
            <a:ext cx="80730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Hyperparameter Tuning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7" name="Google Shape;477;p58"/>
          <p:cNvCxnSpPr/>
          <p:nvPr/>
        </p:nvCxnSpPr>
        <p:spPr>
          <a:xfrm>
            <a:off x="993700" y="907964"/>
            <a:ext cx="7047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478" name="Google Shape;478;p58"/>
          <p:cNvSpPr txBox="1"/>
          <p:nvPr/>
        </p:nvSpPr>
        <p:spPr>
          <a:xfrm>
            <a:off x="774922" y="1725722"/>
            <a:ext cx="39426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Best config: svd_n_components=100, lda_solver=lsqr, lda_shrinkage=None, prior_alpha=0.5.</a:t>
            </a:r>
            <a:b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Validation Macro-F1: 0.453</a:t>
            </a:r>
            <a:b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Neutral F1: 0.125</a:t>
            </a:r>
            <a:b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CV Macro-F1: 0.490 (stable generalization).</a:t>
            </a:r>
            <a:b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-GB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Takeaway: Dimensionality reduction + tempered priors yield balanced performance.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58"/>
          <p:cNvSpPr/>
          <p:nvPr/>
        </p:nvSpPr>
        <p:spPr>
          <a:xfrm rot="8984890">
            <a:off x="4978641" y="1673292"/>
            <a:ext cx="2956521" cy="3036787"/>
          </a:xfrm>
          <a:prstGeom prst="blockArc">
            <a:avLst>
              <a:gd fmla="val 15281230" name="adj1"/>
              <a:gd fmla="val 17337786" name="adj2"/>
              <a:gd fmla="val 2587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58"/>
          <p:cNvSpPr/>
          <p:nvPr/>
        </p:nvSpPr>
        <p:spPr>
          <a:xfrm rot="1215766">
            <a:off x="4978946" y="1672824"/>
            <a:ext cx="2956463" cy="3036380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8"/>
          <p:cNvSpPr/>
          <p:nvPr/>
        </p:nvSpPr>
        <p:spPr>
          <a:xfrm rot="-3694370">
            <a:off x="4978912" y="1672718"/>
            <a:ext cx="2956257" cy="3036536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8"/>
          <p:cNvSpPr/>
          <p:nvPr/>
        </p:nvSpPr>
        <p:spPr>
          <a:xfrm rot="3830905">
            <a:off x="4975570" y="1670550"/>
            <a:ext cx="2956114" cy="3036748"/>
          </a:xfrm>
          <a:prstGeom prst="blockArc">
            <a:avLst>
              <a:gd fmla="val 15358064" name="adj1"/>
              <a:gd fmla="val 17411754" name="adj2"/>
              <a:gd fmla="val 27138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8"/>
          <p:cNvSpPr/>
          <p:nvPr/>
        </p:nvSpPr>
        <p:spPr>
          <a:xfrm rot="-9094370">
            <a:off x="4971742" y="1668934"/>
            <a:ext cx="2956257" cy="3036536"/>
          </a:xfrm>
          <a:prstGeom prst="blockArc">
            <a:avLst>
              <a:gd fmla="val 14680021" name="adj1"/>
              <a:gd fmla="val 17381330" name="adj2"/>
              <a:gd fmla="val 40417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8"/>
          <p:cNvSpPr/>
          <p:nvPr/>
        </p:nvSpPr>
        <p:spPr>
          <a:xfrm rot="-1219643">
            <a:off x="5008124" y="1688338"/>
            <a:ext cx="2956097" cy="3036399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58"/>
          <p:cNvSpPr/>
          <p:nvPr/>
        </p:nvSpPr>
        <p:spPr>
          <a:xfrm rot="6549781">
            <a:off x="4971740" y="1669211"/>
            <a:ext cx="2956526" cy="3036221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8"/>
          <p:cNvSpPr/>
          <p:nvPr/>
        </p:nvSpPr>
        <p:spPr>
          <a:xfrm rot="-6350925">
            <a:off x="4979522" y="1671887"/>
            <a:ext cx="2956072" cy="3036675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0375" lIns="60750" spcFirstLastPara="1" rIns="60750" wrap="square" tIns="3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9"/>
          <p:cNvSpPr txBox="1"/>
          <p:nvPr/>
        </p:nvSpPr>
        <p:spPr>
          <a:xfrm>
            <a:off x="425862" y="249026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Validation &amp; Diagnostics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2" name="Google Shape;492;p59"/>
          <p:cNvCxnSpPr/>
          <p:nvPr/>
        </p:nvCxnSpPr>
        <p:spPr>
          <a:xfrm>
            <a:off x="593499" y="9492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pic>
        <p:nvPicPr>
          <p:cNvPr id="493" name="Google Shape;49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1045543"/>
            <a:ext cx="3656549" cy="236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50" y="1073007"/>
            <a:ext cx="3857150" cy="35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2849" y="3394151"/>
            <a:ext cx="2254876" cy="15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/>
          <p:cNvSpPr txBox="1"/>
          <p:nvPr>
            <p:ph type="title"/>
          </p:nvPr>
        </p:nvSpPr>
        <p:spPr>
          <a:xfrm>
            <a:off x="938500" y="445025"/>
            <a:ext cx="4964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Challenges and Responses / Future Directions</a:t>
            </a:r>
            <a:endParaRPr/>
          </a:p>
        </p:txBody>
      </p:sp>
      <p:sp>
        <p:nvSpPr>
          <p:cNvPr id="501" name="Google Shape;501;p60"/>
          <p:cNvSpPr txBox="1"/>
          <p:nvPr>
            <p:ph idx="3" type="title"/>
          </p:nvPr>
        </p:nvSpPr>
        <p:spPr>
          <a:xfrm>
            <a:off x="452451" y="1869975"/>
            <a:ext cx="2975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Problem: </a:t>
            </a:r>
            <a:r>
              <a:rPr lang="en-GB" sz="1200"/>
              <a:t>Neutral class performance remains weak.</a:t>
            </a:r>
            <a:endParaRPr sz="1200"/>
          </a:p>
        </p:txBody>
      </p:sp>
      <p:cxnSp>
        <p:nvCxnSpPr>
          <p:cNvPr id="502" name="Google Shape;502;p6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503" name="Google Shape;503;p60"/>
          <p:cNvSpPr txBox="1"/>
          <p:nvPr>
            <p:ph idx="3" type="title"/>
          </p:nvPr>
        </p:nvSpPr>
        <p:spPr>
          <a:xfrm>
            <a:off x="452450" y="3954425"/>
            <a:ext cx="248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Response/Future Direction:</a:t>
            </a:r>
            <a:r>
              <a:rPr lang="en-GB" sz="1900"/>
              <a:t> </a:t>
            </a:r>
            <a:r>
              <a:rPr lang="en-GB" sz="1200"/>
              <a:t>Acknowledge linguistic overlap; calibration and upsampling partially mitigate. Explore contextual models (e.g., BERT, RoBERTa) to better capture semantics</a:t>
            </a:r>
            <a:endParaRPr sz="600"/>
          </a:p>
        </p:txBody>
      </p:sp>
      <p:sp>
        <p:nvSpPr>
          <p:cNvPr id="504" name="Google Shape;504;p60"/>
          <p:cNvSpPr txBox="1"/>
          <p:nvPr>
            <p:ph idx="3" type="title"/>
          </p:nvPr>
        </p:nvSpPr>
        <p:spPr>
          <a:xfrm>
            <a:off x="2945976" y="1869976"/>
            <a:ext cx="26241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Problem: </a:t>
            </a:r>
            <a:r>
              <a:rPr lang="en-GB" sz="1200"/>
              <a:t>Linear models underperform compared to Neural Networks.</a:t>
            </a:r>
            <a:endParaRPr sz="1200"/>
          </a:p>
        </p:txBody>
      </p:sp>
      <p:sp>
        <p:nvSpPr>
          <p:cNvPr id="505" name="Google Shape;505;p60"/>
          <p:cNvSpPr txBox="1"/>
          <p:nvPr>
            <p:ph idx="3" type="title"/>
          </p:nvPr>
        </p:nvSpPr>
        <p:spPr>
          <a:xfrm>
            <a:off x="2930918" y="4094958"/>
            <a:ext cx="2624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Response/Future Direction:</a:t>
            </a:r>
            <a:r>
              <a:rPr lang="en-GB" sz="1900"/>
              <a:t> </a:t>
            </a:r>
            <a:r>
              <a:rPr lang="en-GB" sz="1200"/>
              <a:t>Emphasize interpretability, reproducibility, and auditability — critical in regulated contexts. Future work: adopt deep learning for complex boundaries while retaining linear baselines for audit‑ready pipelines.</a:t>
            </a:r>
            <a:endParaRPr sz="600"/>
          </a:p>
        </p:txBody>
      </p:sp>
      <p:sp>
        <p:nvSpPr>
          <p:cNvPr id="506" name="Google Shape;506;p60"/>
          <p:cNvSpPr txBox="1"/>
          <p:nvPr>
            <p:ph idx="3" type="title"/>
          </p:nvPr>
        </p:nvSpPr>
        <p:spPr>
          <a:xfrm>
            <a:off x="5737275" y="1869975"/>
            <a:ext cx="2763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Problem: </a:t>
            </a:r>
            <a:r>
              <a:rPr lang="en-GB" sz="1200"/>
              <a:t>Priors and upsampling effects are limited.</a:t>
            </a:r>
            <a:endParaRPr sz="1200"/>
          </a:p>
        </p:txBody>
      </p:sp>
      <p:sp>
        <p:nvSpPr>
          <p:cNvPr id="507" name="Google Shape;507;p60"/>
          <p:cNvSpPr txBox="1"/>
          <p:nvPr>
            <p:ph idx="3" type="title"/>
          </p:nvPr>
        </p:nvSpPr>
        <p:spPr>
          <a:xfrm>
            <a:off x="5737274" y="4099137"/>
            <a:ext cx="2763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Response/Future Direction:</a:t>
            </a:r>
            <a:r>
              <a:rPr lang="en-GB" sz="1900"/>
              <a:t> </a:t>
            </a:r>
            <a:r>
              <a:rPr lang="en-GB" sz="1200"/>
              <a:t>Show that hybrid features + dimensionality reduction are the real drivers of improvement. Future work: hierarchical classification to separate Neutral from Positive/Negative more effectively.</a:t>
            </a:r>
            <a:endParaRPr sz="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61"/>
          <p:cNvGrpSpPr/>
          <p:nvPr/>
        </p:nvGrpSpPr>
        <p:grpSpPr>
          <a:xfrm rot="-3999592">
            <a:off x="5984670" y="2879496"/>
            <a:ext cx="3027702" cy="3417313"/>
            <a:chOff x="5854496" y="1844999"/>
            <a:chExt cx="2982451" cy="3366239"/>
          </a:xfrm>
        </p:grpSpPr>
        <p:sp>
          <p:nvSpPr>
            <p:cNvPr id="513" name="Google Shape;513;p61"/>
            <p:cNvSpPr/>
            <p:nvPr/>
          </p:nvSpPr>
          <p:spPr>
            <a:xfrm>
              <a:off x="7216322" y="2235749"/>
              <a:ext cx="1378095" cy="1399315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61"/>
            <p:cNvSpPr/>
            <p:nvPr/>
          </p:nvSpPr>
          <p:spPr>
            <a:xfrm>
              <a:off x="5854496" y="1844999"/>
              <a:ext cx="1378023" cy="139924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61"/>
            <p:cNvSpPr/>
            <p:nvPr/>
          </p:nvSpPr>
          <p:spPr>
            <a:xfrm>
              <a:off x="6129161" y="3244240"/>
              <a:ext cx="1275620" cy="129526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61"/>
            <p:cNvSpPr/>
            <p:nvPr/>
          </p:nvSpPr>
          <p:spPr>
            <a:xfrm rot="-1213279">
              <a:off x="7376787" y="3735435"/>
              <a:ext cx="1275620" cy="1295262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61"/>
          <p:cNvSpPr/>
          <p:nvPr/>
        </p:nvSpPr>
        <p:spPr>
          <a:xfrm rot="-1663983">
            <a:off x="-938367" y="2838540"/>
            <a:ext cx="4238721" cy="4354120"/>
          </a:xfrm>
          <a:prstGeom prst="blockArc">
            <a:avLst>
              <a:gd fmla="val 15281230" name="adj1"/>
              <a:gd fmla="val 17337786" name="adj2"/>
              <a:gd fmla="val 2587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61"/>
          <p:cNvSpPr/>
          <p:nvPr/>
        </p:nvSpPr>
        <p:spPr>
          <a:xfrm rot="-9432813">
            <a:off x="-938952" y="2839525"/>
            <a:ext cx="4238603" cy="4353317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61"/>
          <p:cNvSpPr/>
          <p:nvPr/>
        </p:nvSpPr>
        <p:spPr>
          <a:xfrm rot="7257199">
            <a:off x="-938343" y="2839840"/>
            <a:ext cx="4238056" cy="4352994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61"/>
          <p:cNvSpPr/>
          <p:nvPr/>
        </p:nvSpPr>
        <p:spPr>
          <a:xfrm rot="-6817763">
            <a:off x="-934140" y="2842751"/>
            <a:ext cx="4238573" cy="4353288"/>
          </a:xfrm>
          <a:prstGeom prst="blockArc">
            <a:avLst>
              <a:gd fmla="val 15358064" name="adj1"/>
              <a:gd fmla="val 17411754" name="adj2"/>
              <a:gd fmla="val 27138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61"/>
          <p:cNvSpPr/>
          <p:nvPr/>
        </p:nvSpPr>
        <p:spPr>
          <a:xfrm rot="1857199">
            <a:off x="-928524" y="2845805"/>
            <a:ext cx="4238056" cy="4352994"/>
          </a:xfrm>
          <a:prstGeom prst="blockArc">
            <a:avLst>
              <a:gd fmla="val 14680021" name="adj1"/>
              <a:gd fmla="val 17381330" name="adj2"/>
              <a:gd fmla="val 40417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61"/>
          <p:cNvSpPr/>
          <p:nvPr/>
        </p:nvSpPr>
        <p:spPr>
          <a:xfrm rot="9731843">
            <a:off x="-979016" y="2815866"/>
            <a:ext cx="4237932" cy="4352920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1"/>
          <p:cNvSpPr/>
          <p:nvPr/>
        </p:nvSpPr>
        <p:spPr>
          <a:xfrm rot="-4098648">
            <a:off x="-928430" y="2845926"/>
            <a:ext cx="4238151" cy="4352912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61"/>
          <p:cNvSpPr/>
          <p:nvPr/>
        </p:nvSpPr>
        <p:spPr>
          <a:xfrm rot="4600148">
            <a:off x="-938697" y="2840880"/>
            <a:ext cx="4237685" cy="4353088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3550" lIns="87100" spcFirstLastPara="1" rIns="87100" wrap="square" tIns="43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61"/>
          <p:cNvSpPr/>
          <p:nvPr/>
        </p:nvSpPr>
        <p:spPr>
          <a:xfrm rot="-9404569">
            <a:off x="6713714" y="-434476"/>
            <a:ext cx="2311205" cy="2373956"/>
          </a:xfrm>
          <a:prstGeom prst="blockArc">
            <a:avLst>
              <a:gd fmla="val 15281230" name="adj1"/>
              <a:gd fmla="val 17337786" name="adj2"/>
              <a:gd fmla="val 2587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61"/>
          <p:cNvSpPr/>
          <p:nvPr/>
        </p:nvSpPr>
        <p:spPr>
          <a:xfrm rot="4426298">
            <a:off x="6714152" y="-434471"/>
            <a:ext cx="2311188" cy="2373660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61"/>
          <p:cNvSpPr/>
          <p:nvPr/>
        </p:nvSpPr>
        <p:spPr>
          <a:xfrm rot="-483578">
            <a:off x="6714231" y="-434487"/>
            <a:ext cx="2310926" cy="2373632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61"/>
          <p:cNvSpPr/>
          <p:nvPr/>
        </p:nvSpPr>
        <p:spPr>
          <a:xfrm rot="7041403">
            <a:off x="6713894" y="-437678"/>
            <a:ext cx="2311063" cy="2373857"/>
          </a:xfrm>
          <a:prstGeom prst="blockArc">
            <a:avLst>
              <a:gd fmla="val 15358064" name="adj1"/>
              <a:gd fmla="val 17411754" name="adj2"/>
              <a:gd fmla="val 27138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1"/>
          <p:cNvSpPr/>
          <p:nvPr/>
        </p:nvSpPr>
        <p:spPr>
          <a:xfrm rot="-5883578">
            <a:off x="6713390" y="-440760"/>
            <a:ext cx="2310926" cy="2373632"/>
          </a:xfrm>
          <a:prstGeom prst="blockArc">
            <a:avLst>
              <a:gd fmla="val 14680021" name="adj1"/>
              <a:gd fmla="val 17381330" name="adj2"/>
              <a:gd fmla="val 40417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61"/>
          <p:cNvSpPr/>
          <p:nvPr/>
        </p:nvSpPr>
        <p:spPr>
          <a:xfrm rot="1990955">
            <a:off x="6718109" y="-408922"/>
            <a:ext cx="2310944" cy="2373601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1"/>
          <p:cNvSpPr/>
          <p:nvPr/>
        </p:nvSpPr>
        <p:spPr>
          <a:xfrm rot="9760516">
            <a:off x="6713214" y="-440570"/>
            <a:ext cx="2311047" cy="2373380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1"/>
          <p:cNvSpPr/>
          <p:nvPr/>
        </p:nvSpPr>
        <p:spPr>
          <a:xfrm rot="-3140497">
            <a:off x="6715054" y="-434735"/>
            <a:ext cx="2310819" cy="2373759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23750" lIns="47500" spcFirstLastPara="1" rIns="47500" wrap="square" tIns="2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3" name="Google Shape;533;p61"/>
          <p:cNvGraphicFramePr/>
          <p:nvPr/>
        </p:nvGraphicFramePr>
        <p:xfrm>
          <a:off x="490600" y="9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{456F817D-9E52-44E2-814B-2FA1B35C6D90}</a:tableStyleId>
              </a:tblPr>
              <a:tblGrid>
                <a:gridCol w="1887325"/>
                <a:gridCol w="922400"/>
                <a:gridCol w="922400"/>
                <a:gridCol w="797650"/>
                <a:gridCol w="843050"/>
                <a:gridCol w="990475"/>
                <a:gridCol w="877075"/>
                <a:gridCol w="922400"/>
              </a:tblGrid>
              <a:tr h="527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Variant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Set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Macro F1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ROC-AUC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F1-Negative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F1-Neutral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F1-Positive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Lexicon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0.787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0.582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0.346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0.734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0.458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0.607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priors_only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Lexicon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0.787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0.582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0.346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priors_only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0.734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0.458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0.607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upsample_only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Lexicon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0.599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0.596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0.094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0.183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upsample_only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0.793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0.589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priors_plus_upsample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Lexicon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0.599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0.596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0.094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0.183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0.772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priors_plus_upsample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0.793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0.435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0.589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0.356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0.885</a:t>
                      </a:r>
                      <a:endParaRPr sz="12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2"/>
          <p:cNvSpPr txBox="1"/>
          <p:nvPr>
            <p:ph idx="1" type="subTitle"/>
          </p:nvPr>
        </p:nvSpPr>
        <p:spPr>
          <a:xfrm>
            <a:off x="1393350" y="1580427"/>
            <a:ext cx="6357300" cy="30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Fisher’s Linear Discriminant is a defensible, interpretable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Baseline.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Hybrid features consistently outperform lexicon-only.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Calibration and upsampling highlight trade-offs in imbalance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Handling.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Provides audit-ready reproducibility, even if not the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top-performing model.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62"/>
          <p:cNvSpPr txBox="1"/>
          <p:nvPr/>
        </p:nvSpPr>
        <p:spPr>
          <a:xfrm>
            <a:off x="394625" y="520050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 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0" name="Google Shape;540;p62"/>
          <p:cNvCxnSpPr/>
          <p:nvPr/>
        </p:nvCxnSpPr>
        <p:spPr>
          <a:xfrm>
            <a:off x="1048500" y="1220239"/>
            <a:ext cx="7047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3"/>
          <p:cNvSpPr txBox="1"/>
          <p:nvPr>
            <p:ph type="title"/>
          </p:nvPr>
        </p:nvSpPr>
        <p:spPr>
          <a:xfrm>
            <a:off x="3762676" y="3177750"/>
            <a:ext cx="5170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Logistic Regression</a:t>
            </a:r>
            <a:endParaRPr/>
          </a:p>
        </p:txBody>
      </p:sp>
      <p:sp>
        <p:nvSpPr>
          <p:cNvPr id="546" name="Google Shape;546;p63"/>
          <p:cNvSpPr txBox="1"/>
          <p:nvPr>
            <p:ph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6360000" dist="28575">
              <a:schemeClr val="accent1">
                <a:alpha val="4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02</a:t>
            </a:r>
            <a:endParaRPr/>
          </a:p>
        </p:txBody>
      </p:sp>
      <p:cxnSp>
        <p:nvCxnSpPr>
          <p:cNvPr id="547" name="Google Shape;547;p6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548" name="Google Shape;548;p6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GB"/>
              <a:t>Mohamed Mourad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4"/>
          <p:cNvSpPr txBox="1"/>
          <p:nvPr/>
        </p:nvSpPr>
        <p:spPr>
          <a:xfrm>
            <a:off x="425862" y="249026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 Design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64"/>
          <p:cNvSpPr txBox="1"/>
          <p:nvPr/>
        </p:nvSpPr>
        <p:spPr>
          <a:xfrm>
            <a:off x="4572000" y="1432050"/>
            <a:ext cx="3917400" cy="3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Algorithm: Logistic Regression for multiclass sentiment classification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Regularization: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L2 (ridge): stability &amp; generalization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L1 (lasso): sparsity &amp; feature selection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Class handling: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class_weight = balanced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Solver: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lbfgs (L2)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saga (L1)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55" name="Google Shape;555;p64"/>
          <p:cNvCxnSpPr/>
          <p:nvPr/>
        </p:nvCxnSpPr>
        <p:spPr>
          <a:xfrm>
            <a:off x="593499" y="9492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grpSp>
        <p:nvGrpSpPr>
          <p:cNvPr id="556" name="Google Shape;556;p64"/>
          <p:cNvGrpSpPr/>
          <p:nvPr/>
        </p:nvGrpSpPr>
        <p:grpSpPr>
          <a:xfrm rot="-5047188">
            <a:off x="1121154" y="1181699"/>
            <a:ext cx="2953372" cy="3312773"/>
            <a:chOff x="5913444" y="1852724"/>
            <a:chExt cx="2909321" cy="3263361"/>
          </a:xfrm>
        </p:grpSpPr>
        <p:sp>
          <p:nvSpPr>
            <p:cNvPr id="557" name="Google Shape;557;p64"/>
            <p:cNvSpPr/>
            <p:nvPr/>
          </p:nvSpPr>
          <p:spPr>
            <a:xfrm>
              <a:off x="7322608" y="2136414"/>
              <a:ext cx="1378095" cy="1399315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64"/>
            <p:cNvSpPr/>
            <p:nvPr/>
          </p:nvSpPr>
          <p:spPr>
            <a:xfrm>
              <a:off x="5913444" y="1852724"/>
              <a:ext cx="1378023" cy="139924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64"/>
            <p:cNvSpPr/>
            <p:nvPr/>
          </p:nvSpPr>
          <p:spPr>
            <a:xfrm>
              <a:off x="5972000" y="3426824"/>
              <a:ext cx="1275620" cy="129526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64"/>
            <p:cNvSpPr/>
            <p:nvPr/>
          </p:nvSpPr>
          <p:spPr>
            <a:xfrm rot="-1213279">
              <a:off x="7362605" y="3640283"/>
              <a:ext cx="1275620" cy="1295262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5"/>
          <p:cNvSpPr txBox="1"/>
          <p:nvPr/>
        </p:nvSpPr>
        <p:spPr>
          <a:xfrm>
            <a:off x="425862" y="249026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Features and Training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65"/>
          <p:cNvSpPr txBox="1"/>
          <p:nvPr/>
        </p:nvSpPr>
        <p:spPr>
          <a:xfrm>
            <a:off x="593500" y="1443400"/>
            <a:ext cx="39174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Lexicon-only: VADER sentiment scores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Hybrid: TF-IDF + sentiment lexicons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Training strategy: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Balanced labels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GridSearchCV for C and penalty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Macro-F1 as primary metric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Evaluation Focus: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Fairness across all sentiment classes.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67" name="Google Shape;567;p65"/>
          <p:cNvCxnSpPr/>
          <p:nvPr/>
        </p:nvCxnSpPr>
        <p:spPr>
          <a:xfrm>
            <a:off x="593499" y="9492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6"/>
          <p:cNvSpPr txBox="1"/>
          <p:nvPr/>
        </p:nvSpPr>
        <p:spPr>
          <a:xfrm>
            <a:off x="425862" y="249026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Results and Takaways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66"/>
          <p:cNvSpPr txBox="1"/>
          <p:nvPr/>
        </p:nvSpPr>
        <p:spPr>
          <a:xfrm>
            <a:off x="425850" y="1136975"/>
            <a:ext cx="66873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lexicon-only features outperform Hybrid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Strong performance on Positive &amp; Negative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Neutral class remains challenging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strengths: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Interpretability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Reproducibility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Audit-ready baseline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 Medium"/>
              <a:buChar char="●"/>
            </a:pP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Conclusion:</a:t>
            </a:r>
            <a:b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GB" sz="13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Logistic Regression is a reliable, transparent baseline, not the strongest model, but essential for understanding gains from more advanced methods.</a:t>
            </a:r>
            <a:endParaRPr sz="13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74" name="Google Shape;574;p66"/>
          <p:cNvCxnSpPr/>
          <p:nvPr/>
        </p:nvCxnSpPr>
        <p:spPr>
          <a:xfrm>
            <a:off x="593499" y="9492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pic>
        <p:nvPicPr>
          <p:cNvPr id="575" name="Google Shape;57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775" y="1183913"/>
            <a:ext cx="398145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7"/>
          <p:cNvSpPr txBox="1"/>
          <p:nvPr>
            <p:ph type="title"/>
          </p:nvPr>
        </p:nvSpPr>
        <p:spPr>
          <a:xfrm>
            <a:off x="3762669" y="3177750"/>
            <a:ext cx="4747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Perceptron</a:t>
            </a:r>
            <a:endParaRPr/>
          </a:p>
        </p:txBody>
      </p:sp>
      <p:sp>
        <p:nvSpPr>
          <p:cNvPr id="581" name="Google Shape;581;p67"/>
          <p:cNvSpPr txBox="1"/>
          <p:nvPr>
            <p:ph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6360000" dist="28575">
              <a:schemeClr val="accent1">
                <a:alpha val="4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GB"/>
              <a:t>03</a:t>
            </a:r>
            <a:endParaRPr/>
          </a:p>
        </p:txBody>
      </p:sp>
      <p:cxnSp>
        <p:nvCxnSpPr>
          <p:cNvPr id="582" name="Google Shape;582;p67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583" name="Google Shape;583;p67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GB"/>
              <a:t>Ahmed Gomaa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8"/>
          <p:cNvSpPr txBox="1"/>
          <p:nvPr/>
        </p:nvSpPr>
        <p:spPr>
          <a:xfrm>
            <a:off x="425862" y="249026"/>
            <a:ext cx="807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Perceptron Methodology</a:t>
            </a:r>
            <a:endParaRPr sz="36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68"/>
          <p:cNvSpPr/>
          <p:nvPr/>
        </p:nvSpPr>
        <p:spPr>
          <a:xfrm>
            <a:off x="5116835" y="897041"/>
            <a:ext cx="3336900" cy="3427500"/>
          </a:xfrm>
          <a:prstGeom prst="blockArc">
            <a:avLst>
              <a:gd fmla="val 15281230" name="adj1"/>
              <a:gd fmla="val 17254064" name="adj2"/>
              <a:gd fmla="val 279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68"/>
          <p:cNvSpPr/>
          <p:nvPr/>
        </p:nvSpPr>
        <p:spPr>
          <a:xfrm rot="-2700000">
            <a:off x="5116735" y="896226"/>
            <a:ext cx="3336837" cy="3427205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8"/>
          <p:cNvSpPr/>
          <p:nvPr/>
        </p:nvSpPr>
        <p:spPr>
          <a:xfrm rot="-5400000">
            <a:off x="5116947" y="896283"/>
            <a:ext cx="3336600" cy="3427500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8"/>
          <p:cNvSpPr/>
          <p:nvPr/>
        </p:nvSpPr>
        <p:spPr>
          <a:xfrm rot="-8117047">
            <a:off x="5112253" y="896007"/>
            <a:ext cx="3336878" cy="3427671"/>
          </a:xfrm>
          <a:prstGeom prst="blockArc">
            <a:avLst>
              <a:gd fmla="val 15358064" name="adj1"/>
              <a:gd fmla="val 17217353" name="adj2"/>
              <a:gd fmla="val 9023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68"/>
          <p:cNvSpPr/>
          <p:nvPr/>
        </p:nvSpPr>
        <p:spPr>
          <a:xfrm rot="10800000">
            <a:off x="5107727" y="896169"/>
            <a:ext cx="3336600" cy="3427500"/>
          </a:xfrm>
          <a:prstGeom prst="blockArc">
            <a:avLst>
              <a:gd fmla="val 15358064" name="adj1"/>
              <a:gd fmla="val 17122234" name="adj2"/>
              <a:gd fmla="val 11092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68"/>
          <p:cNvSpPr/>
          <p:nvPr/>
        </p:nvSpPr>
        <p:spPr>
          <a:xfrm rot="8233575">
            <a:off x="5154028" y="895988"/>
            <a:ext cx="3336598" cy="3427674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68"/>
          <p:cNvSpPr/>
          <p:nvPr/>
        </p:nvSpPr>
        <p:spPr>
          <a:xfrm rot="5600699">
            <a:off x="5107553" y="896255"/>
            <a:ext cx="3336885" cy="3427346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68"/>
          <p:cNvSpPr/>
          <p:nvPr/>
        </p:nvSpPr>
        <p:spPr>
          <a:xfrm rot="2641642">
            <a:off x="5116830" y="895369"/>
            <a:ext cx="3336681" cy="3427489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68"/>
          <p:cNvSpPr txBox="1"/>
          <p:nvPr/>
        </p:nvSpPr>
        <p:spPr>
          <a:xfrm>
            <a:off x="5704928" y="2284589"/>
            <a:ext cx="1962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68"/>
          <p:cNvSpPr txBox="1"/>
          <p:nvPr/>
        </p:nvSpPr>
        <p:spPr>
          <a:xfrm>
            <a:off x="1409419" y="1315122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Feature Augmentation:</a:t>
            </a:r>
            <a:r>
              <a:rPr lang="en-GB" sz="1100">
                <a:solidFill>
                  <a:schemeClr val="lt1"/>
                </a:solidFill>
              </a:rPr>
              <a:t> Manual calculation of interaction features.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68"/>
          <p:cNvSpPr/>
          <p:nvPr/>
        </p:nvSpPr>
        <p:spPr>
          <a:xfrm>
            <a:off x="761958" y="1391163"/>
            <a:ext cx="379800" cy="379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600" name="Google Shape;600;p68"/>
          <p:cNvSpPr/>
          <p:nvPr/>
        </p:nvSpPr>
        <p:spPr>
          <a:xfrm>
            <a:off x="761958" y="1976096"/>
            <a:ext cx="379800" cy="379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601" name="Google Shape;601;p68"/>
          <p:cNvSpPr/>
          <p:nvPr/>
        </p:nvSpPr>
        <p:spPr>
          <a:xfrm>
            <a:off x="761958" y="2620394"/>
            <a:ext cx="379800" cy="379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602" name="Google Shape;602;p68"/>
          <p:cNvSpPr txBox="1"/>
          <p:nvPr/>
        </p:nvSpPr>
        <p:spPr>
          <a:xfrm>
            <a:off x="1409419" y="1945140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Strategic Undersampling:</a:t>
            </a:r>
            <a:r>
              <a:rPr lang="en-GB" sz="1100">
                <a:solidFill>
                  <a:schemeClr val="lt1"/>
                </a:solidFill>
              </a:rPr>
              <a:t> Balancing the training data distribution.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3" name="Google Shape;603;p68"/>
          <p:cNvSpPr txBox="1"/>
          <p:nvPr/>
        </p:nvSpPr>
        <p:spPr>
          <a:xfrm>
            <a:off x="1409419" y="2576738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Model Architecture:</a:t>
            </a:r>
            <a:r>
              <a:rPr lang="en-GB" sz="1100">
                <a:solidFill>
                  <a:schemeClr val="lt1"/>
                </a:solidFill>
              </a:rPr>
              <a:t> Calibrated Perceptron within a robust pipeline.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4" name="Google Shape;604;p68"/>
          <p:cNvSpPr txBox="1"/>
          <p:nvPr/>
        </p:nvSpPr>
        <p:spPr>
          <a:xfrm>
            <a:off x="1409419" y="3744936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Threshold Optimization:</a:t>
            </a:r>
            <a:r>
              <a:rPr lang="en-GB" sz="1100">
                <a:solidFill>
                  <a:schemeClr val="lt1"/>
                </a:solidFill>
              </a:rPr>
              <a:t> Post-hoc tuning for minority class sensitivity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5" name="Google Shape;605;p68"/>
          <p:cNvSpPr txBox="1"/>
          <p:nvPr/>
        </p:nvSpPr>
        <p:spPr>
          <a:xfrm>
            <a:off x="1141750" y="3264699"/>
            <a:ext cx="324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      </a:t>
            </a:r>
            <a:r>
              <a:rPr b="1" lang="en-GB" sz="1100">
                <a:solidFill>
                  <a:schemeClr val="lt1"/>
                </a:solidFill>
              </a:rPr>
              <a:t>Ensemble Learning:</a:t>
            </a:r>
            <a:r>
              <a:rPr lang="en-GB" sz="1100">
                <a:solidFill>
                  <a:schemeClr val="lt1"/>
                </a:solidFill>
              </a:rPr>
              <a:t> Bagging stabilization.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06" name="Google Shape;606;p68"/>
          <p:cNvSpPr/>
          <p:nvPr/>
        </p:nvSpPr>
        <p:spPr>
          <a:xfrm>
            <a:off x="761958" y="3264692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68"/>
          <p:cNvSpPr/>
          <p:nvPr/>
        </p:nvSpPr>
        <p:spPr>
          <a:xfrm>
            <a:off x="761950" y="3759025"/>
            <a:ext cx="379800" cy="379800"/>
          </a:xfrm>
          <a:prstGeom prst="ellipse">
            <a:avLst/>
          </a:prstGeom>
          <a:solidFill>
            <a:srgbClr val="CB1B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9"/>
          <p:cNvSpPr txBox="1"/>
          <p:nvPr/>
        </p:nvSpPr>
        <p:spPr>
          <a:xfrm>
            <a:off x="385612" y="4192151"/>
            <a:ext cx="807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PCA OF THE DATA</a:t>
            </a:r>
            <a:endParaRPr sz="36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3" name="Google Shape;613;p69"/>
          <p:cNvSpPr/>
          <p:nvPr/>
        </p:nvSpPr>
        <p:spPr>
          <a:xfrm>
            <a:off x="8634212" y="182279"/>
            <a:ext cx="338400" cy="33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4" name="Google Shape;614;p69"/>
          <p:cNvSpPr/>
          <p:nvPr/>
        </p:nvSpPr>
        <p:spPr>
          <a:xfrm rot="2700000">
            <a:off x="949057" y="437978"/>
            <a:ext cx="3336837" cy="3427629"/>
          </a:xfrm>
          <a:prstGeom prst="blockArc">
            <a:avLst>
              <a:gd fmla="val 15281230" name="adj1"/>
              <a:gd fmla="val 17254064" name="adj2"/>
              <a:gd fmla="val 2798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69"/>
          <p:cNvSpPr/>
          <p:nvPr/>
        </p:nvSpPr>
        <p:spPr>
          <a:xfrm>
            <a:off x="949714" y="437393"/>
            <a:ext cx="3336900" cy="3427200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9"/>
          <p:cNvSpPr/>
          <p:nvPr/>
        </p:nvSpPr>
        <p:spPr>
          <a:xfrm rot="-2700000">
            <a:off x="949826" y="437504"/>
            <a:ext cx="3336413" cy="3427629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rgbClr val="F6B26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69"/>
          <p:cNvSpPr/>
          <p:nvPr/>
        </p:nvSpPr>
        <p:spPr>
          <a:xfrm rot="-5416999">
            <a:off x="946455" y="433984"/>
            <a:ext cx="3336941" cy="3427543"/>
          </a:xfrm>
          <a:prstGeom prst="blockArc">
            <a:avLst>
              <a:gd fmla="val 15358064" name="adj1"/>
              <a:gd fmla="val 17217353" name="adj2"/>
              <a:gd fmla="val 9023" name="adj3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69"/>
          <p:cNvSpPr/>
          <p:nvPr/>
        </p:nvSpPr>
        <p:spPr>
          <a:xfrm rot="-8100000">
            <a:off x="943520" y="430813"/>
            <a:ext cx="3336413" cy="3427629"/>
          </a:xfrm>
          <a:prstGeom prst="blockArc">
            <a:avLst>
              <a:gd fmla="val 15358064" name="adj1"/>
              <a:gd fmla="val 17122234" name="adj2"/>
              <a:gd fmla="val 11092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69"/>
          <p:cNvSpPr/>
          <p:nvPr/>
        </p:nvSpPr>
        <p:spPr>
          <a:xfrm rot="-10666442">
            <a:off x="975992" y="463432"/>
            <a:ext cx="3336718" cy="3427689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9"/>
          <p:cNvSpPr/>
          <p:nvPr/>
        </p:nvSpPr>
        <p:spPr>
          <a:xfrm rot="8300730">
            <a:off x="943013" y="430989"/>
            <a:ext cx="3337008" cy="3427320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9"/>
          <p:cNvSpPr/>
          <p:nvPr/>
        </p:nvSpPr>
        <p:spPr>
          <a:xfrm rot="5341582">
            <a:off x="950336" y="436787"/>
            <a:ext cx="3336782" cy="3427394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9"/>
          <p:cNvSpPr txBox="1"/>
          <p:nvPr/>
        </p:nvSpPr>
        <p:spPr>
          <a:xfrm>
            <a:off x="5704928" y="2284589"/>
            <a:ext cx="1962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623" name="Google Shape;62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400" y="1060101"/>
            <a:ext cx="4084443" cy="3363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0"/>
          <p:cNvSpPr txBox="1"/>
          <p:nvPr/>
        </p:nvSpPr>
        <p:spPr>
          <a:xfrm>
            <a:off x="425862" y="249026"/>
            <a:ext cx="807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9" name="Google Shape;629;p70"/>
          <p:cNvSpPr txBox="1"/>
          <p:nvPr/>
        </p:nvSpPr>
        <p:spPr>
          <a:xfrm>
            <a:off x="487550" y="3747050"/>
            <a:ext cx="5283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lt1"/>
                </a:solidFill>
              </a:rPr>
              <a:t>Beyond Accuracy: Measuring Predictive Potential with ROC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630" name="Google Shape;63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300" y="512550"/>
            <a:ext cx="4084443" cy="260699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70"/>
          <p:cNvSpPr/>
          <p:nvPr/>
        </p:nvSpPr>
        <p:spPr>
          <a:xfrm rot="5119674">
            <a:off x="5288458" y="642526"/>
            <a:ext cx="3336888" cy="3427474"/>
          </a:xfrm>
          <a:prstGeom prst="blockArc">
            <a:avLst>
              <a:gd fmla="val 15281230" name="adj1"/>
              <a:gd fmla="val 17254064" name="adj2"/>
              <a:gd fmla="val 279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70"/>
          <p:cNvSpPr/>
          <p:nvPr/>
        </p:nvSpPr>
        <p:spPr>
          <a:xfrm rot="2419753">
            <a:off x="5289405" y="642690"/>
            <a:ext cx="3337101" cy="3427368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70"/>
          <p:cNvSpPr/>
          <p:nvPr/>
        </p:nvSpPr>
        <p:spPr>
          <a:xfrm rot="-280068">
            <a:off x="5289267" y="642615"/>
            <a:ext cx="3336265" cy="3427474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70"/>
          <p:cNvSpPr/>
          <p:nvPr/>
        </p:nvSpPr>
        <p:spPr>
          <a:xfrm rot="-2997143">
            <a:off x="5289097" y="637779"/>
            <a:ext cx="3336991" cy="3427525"/>
          </a:xfrm>
          <a:prstGeom prst="blockArc">
            <a:avLst>
              <a:gd fmla="val 15358064" name="adj1"/>
              <a:gd fmla="val 17217353" name="adj2"/>
              <a:gd fmla="val 9023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70"/>
          <p:cNvSpPr/>
          <p:nvPr/>
        </p:nvSpPr>
        <p:spPr>
          <a:xfrm rot="-5680068">
            <a:off x="5288969" y="633534"/>
            <a:ext cx="3336265" cy="3427474"/>
          </a:xfrm>
          <a:prstGeom prst="blockArc">
            <a:avLst>
              <a:gd fmla="val 15358064" name="adj1"/>
              <a:gd fmla="val 17122234" name="adj2"/>
              <a:gd fmla="val 11092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70"/>
          <p:cNvSpPr/>
          <p:nvPr/>
        </p:nvSpPr>
        <p:spPr>
          <a:xfrm rot="-8246696">
            <a:off x="5292444" y="679142"/>
            <a:ext cx="3336692" cy="3427786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70"/>
          <p:cNvSpPr/>
          <p:nvPr/>
        </p:nvSpPr>
        <p:spPr>
          <a:xfrm rot="10720563">
            <a:off x="5288538" y="633398"/>
            <a:ext cx="3336891" cy="3427215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70"/>
          <p:cNvSpPr/>
          <p:nvPr/>
        </p:nvSpPr>
        <p:spPr>
          <a:xfrm rot="7761344">
            <a:off x="5290257" y="642289"/>
            <a:ext cx="3336680" cy="3427486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1"/>
          <p:cNvSpPr txBox="1"/>
          <p:nvPr/>
        </p:nvSpPr>
        <p:spPr>
          <a:xfrm>
            <a:off x="425862" y="249026"/>
            <a:ext cx="807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4" name="Google Shape;644;p71"/>
          <p:cNvSpPr txBox="1"/>
          <p:nvPr/>
        </p:nvSpPr>
        <p:spPr>
          <a:xfrm>
            <a:off x="425850" y="3991450"/>
            <a:ext cx="528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The Bais Check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645" name="Google Shape;64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425" y="430426"/>
            <a:ext cx="4084442" cy="277813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71"/>
          <p:cNvSpPr/>
          <p:nvPr/>
        </p:nvSpPr>
        <p:spPr>
          <a:xfrm rot="8100000">
            <a:off x="5120803" y="986942"/>
            <a:ext cx="3336837" cy="3427629"/>
          </a:xfrm>
          <a:prstGeom prst="blockArc">
            <a:avLst>
              <a:gd fmla="val 15281230" name="adj1"/>
              <a:gd fmla="val 17254064" name="adj2"/>
              <a:gd fmla="val 279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71"/>
          <p:cNvSpPr/>
          <p:nvPr/>
        </p:nvSpPr>
        <p:spPr>
          <a:xfrm rot="5400000">
            <a:off x="5121571" y="987844"/>
            <a:ext cx="3336900" cy="3427200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71"/>
          <p:cNvSpPr/>
          <p:nvPr/>
        </p:nvSpPr>
        <p:spPr>
          <a:xfrm rot="2700000">
            <a:off x="5121490" y="987498"/>
            <a:ext cx="3336413" cy="3427629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71"/>
          <p:cNvSpPr/>
          <p:nvPr/>
        </p:nvSpPr>
        <p:spPr>
          <a:xfrm rot="-16999">
            <a:off x="5124789" y="984435"/>
            <a:ext cx="3336941" cy="3427543"/>
          </a:xfrm>
          <a:prstGeom prst="blockArc">
            <a:avLst>
              <a:gd fmla="val 15358064" name="adj1"/>
              <a:gd fmla="val 17217353" name="adj2"/>
              <a:gd fmla="val 9023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71"/>
          <p:cNvSpPr/>
          <p:nvPr/>
        </p:nvSpPr>
        <p:spPr>
          <a:xfrm rot="-2700000">
            <a:off x="5128181" y="981193"/>
            <a:ext cx="3336413" cy="3427629"/>
          </a:xfrm>
          <a:prstGeom prst="blockArc">
            <a:avLst>
              <a:gd fmla="val 15358064" name="adj1"/>
              <a:gd fmla="val 17122234" name="adj2"/>
              <a:gd fmla="val 11092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71"/>
          <p:cNvSpPr/>
          <p:nvPr/>
        </p:nvSpPr>
        <p:spPr>
          <a:xfrm rot="-5266442">
            <a:off x="5095379" y="1013787"/>
            <a:ext cx="3336718" cy="3427689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71"/>
          <p:cNvSpPr/>
          <p:nvPr/>
        </p:nvSpPr>
        <p:spPr>
          <a:xfrm rot="-7899270">
            <a:off x="5127861" y="981137"/>
            <a:ext cx="3337008" cy="3427320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71"/>
          <p:cNvSpPr/>
          <p:nvPr/>
        </p:nvSpPr>
        <p:spPr>
          <a:xfrm rot="10741582">
            <a:off x="5122140" y="988310"/>
            <a:ext cx="3336782" cy="3427394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2"/>
          <p:cNvSpPr txBox="1"/>
          <p:nvPr/>
        </p:nvSpPr>
        <p:spPr>
          <a:xfrm>
            <a:off x="902062" y="288536"/>
            <a:ext cx="72555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"/>
              <a:buNone/>
            </a:pPr>
            <a:r>
              <a:rPr lang="en-GB" sz="38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Feature Space Augmentation</a:t>
            </a:r>
            <a:endParaRPr sz="1100"/>
          </a:p>
        </p:txBody>
      </p:sp>
      <p:sp>
        <p:nvSpPr>
          <p:cNvPr id="659" name="Google Shape;659;p72"/>
          <p:cNvSpPr txBox="1"/>
          <p:nvPr/>
        </p:nvSpPr>
        <p:spPr>
          <a:xfrm>
            <a:off x="1312818" y="1953663"/>
            <a:ext cx="3066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60" name="Google Shape;660;p72"/>
          <p:cNvGrpSpPr/>
          <p:nvPr/>
        </p:nvGrpSpPr>
        <p:grpSpPr>
          <a:xfrm rot="-5847958">
            <a:off x="4966947" y="948218"/>
            <a:ext cx="3027504" cy="3417088"/>
            <a:chOff x="5854496" y="1844999"/>
            <a:chExt cx="2982451" cy="3366239"/>
          </a:xfrm>
        </p:grpSpPr>
        <p:sp>
          <p:nvSpPr>
            <p:cNvPr id="661" name="Google Shape;661;p72"/>
            <p:cNvSpPr/>
            <p:nvPr/>
          </p:nvSpPr>
          <p:spPr>
            <a:xfrm>
              <a:off x="7216322" y="2235749"/>
              <a:ext cx="1378095" cy="1399315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72"/>
            <p:cNvSpPr/>
            <p:nvPr/>
          </p:nvSpPr>
          <p:spPr>
            <a:xfrm>
              <a:off x="5854496" y="1844999"/>
              <a:ext cx="1378023" cy="139924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72"/>
            <p:cNvSpPr/>
            <p:nvPr/>
          </p:nvSpPr>
          <p:spPr>
            <a:xfrm>
              <a:off x="6129161" y="3244240"/>
              <a:ext cx="1275620" cy="129526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72"/>
            <p:cNvSpPr/>
            <p:nvPr/>
          </p:nvSpPr>
          <p:spPr>
            <a:xfrm rot="-1213279">
              <a:off x="7376787" y="3735435"/>
              <a:ext cx="1275620" cy="1295262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5" name="Google Shape;665;p72"/>
          <p:cNvSpPr txBox="1"/>
          <p:nvPr/>
        </p:nvSpPr>
        <p:spPr>
          <a:xfrm>
            <a:off x="1549519" y="1940747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Feature Augmentation:</a:t>
            </a:r>
            <a:r>
              <a:rPr lang="en-GB" sz="1100">
                <a:solidFill>
                  <a:schemeClr val="lt1"/>
                </a:solidFill>
              </a:rPr>
              <a:t> Manual calculation of interaction features.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p72"/>
          <p:cNvSpPr/>
          <p:nvPr/>
        </p:nvSpPr>
        <p:spPr>
          <a:xfrm>
            <a:off x="902058" y="2016788"/>
            <a:ext cx="379800" cy="379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667" name="Google Shape;667;p72"/>
          <p:cNvSpPr/>
          <p:nvPr/>
        </p:nvSpPr>
        <p:spPr>
          <a:xfrm>
            <a:off x="902058" y="2601721"/>
            <a:ext cx="379800" cy="379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668" name="Google Shape;668;p72"/>
          <p:cNvSpPr/>
          <p:nvPr/>
        </p:nvSpPr>
        <p:spPr>
          <a:xfrm>
            <a:off x="902058" y="3246019"/>
            <a:ext cx="379800" cy="379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669" name="Google Shape;669;p72"/>
          <p:cNvSpPr txBox="1"/>
          <p:nvPr/>
        </p:nvSpPr>
        <p:spPr>
          <a:xfrm>
            <a:off x="1549519" y="2570765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Strategic Undersampling:</a:t>
            </a:r>
            <a:r>
              <a:rPr lang="en-GB" sz="1100">
                <a:solidFill>
                  <a:schemeClr val="lt1"/>
                </a:solidFill>
              </a:rPr>
              <a:t> Balancing the training data distribution.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0" name="Google Shape;670;p72"/>
          <p:cNvSpPr txBox="1"/>
          <p:nvPr/>
        </p:nvSpPr>
        <p:spPr>
          <a:xfrm>
            <a:off x="1549519" y="3202363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Model Architecture:</a:t>
            </a:r>
            <a:r>
              <a:rPr lang="en-GB" sz="1100">
                <a:solidFill>
                  <a:schemeClr val="lt1"/>
                </a:solidFill>
              </a:rPr>
              <a:t> Calibrated Perceptron within a robust pipeline.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1" name="Google Shape;671;p72"/>
          <p:cNvSpPr/>
          <p:nvPr/>
        </p:nvSpPr>
        <p:spPr>
          <a:xfrm>
            <a:off x="902058" y="3835192"/>
            <a:ext cx="379800" cy="37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72"/>
          <p:cNvSpPr txBox="1"/>
          <p:nvPr/>
        </p:nvSpPr>
        <p:spPr>
          <a:xfrm>
            <a:off x="1549519" y="3833986"/>
            <a:ext cx="2548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en Sans"/>
              <a:buNone/>
            </a:pPr>
            <a:r>
              <a:rPr b="1" lang="en-GB" sz="1100">
                <a:solidFill>
                  <a:schemeClr val="lt1"/>
                </a:solidFill>
              </a:rPr>
              <a:t>Threshold Optimization:</a:t>
            </a:r>
            <a:r>
              <a:rPr lang="en-GB" sz="1100">
                <a:solidFill>
                  <a:schemeClr val="lt1"/>
                </a:solidFill>
              </a:rPr>
              <a:t> Post-hoc tuning for minority class sensitivit</a:t>
            </a:r>
            <a:endParaRPr b="0" i="0" sz="11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3" name="Google Shape;673;p72"/>
          <p:cNvSpPr txBox="1"/>
          <p:nvPr/>
        </p:nvSpPr>
        <p:spPr>
          <a:xfrm>
            <a:off x="451975" y="1103133"/>
            <a:ext cx="478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Goal: Help linear models detect non-linear relationships (mixed/neutral sentiment).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4" name="Google Shape;674;p72"/>
          <p:cNvSpPr/>
          <p:nvPr/>
        </p:nvSpPr>
        <p:spPr>
          <a:xfrm rot="-5847975">
            <a:off x="47822" y="882255"/>
            <a:ext cx="453867" cy="544437"/>
          </a:xfrm>
          <a:custGeom>
            <a:rect b="b" l="l" r="r" t="t"/>
            <a:pathLst>
              <a:path extrusionOk="0" h="571" w="567">
                <a:moveTo>
                  <a:pt x="565" y="260"/>
                </a:moveTo>
                <a:cubicBezTo>
                  <a:pt x="566" y="250"/>
                  <a:pt x="557" y="241"/>
                  <a:pt x="548" y="239"/>
                </a:cubicBezTo>
                <a:cubicBezTo>
                  <a:pt x="537" y="236"/>
                  <a:pt x="526" y="232"/>
                  <a:pt x="515" y="229"/>
                </a:cubicBezTo>
                <a:cubicBezTo>
                  <a:pt x="506" y="227"/>
                  <a:pt x="499" y="219"/>
                  <a:pt x="495" y="210"/>
                </a:cubicBezTo>
                <a:cubicBezTo>
                  <a:pt x="492" y="202"/>
                  <a:pt x="489" y="193"/>
                  <a:pt x="486" y="186"/>
                </a:cubicBezTo>
                <a:cubicBezTo>
                  <a:pt x="480" y="177"/>
                  <a:pt x="480" y="170"/>
                  <a:pt x="485" y="162"/>
                </a:cubicBezTo>
                <a:cubicBezTo>
                  <a:pt x="490" y="153"/>
                  <a:pt x="495" y="145"/>
                  <a:pt x="499" y="137"/>
                </a:cubicBezTo>
                <a:cubicBezTo>
                  <a:pt x="502" y="131"/>
                  <a:pt x="506" y="126"/>
                  <a:pt x="506" y="119"/>
                </a:cubicBezTo>
                <a:cubicBezTo>
                  <a:pt x="507" y="106"/>
                  <a:pt x="499" y="98"/>
                  <a:pt x="492" y="91"/>
                </a:cubicBezTo>
                <a:cubicBezTo>
                  <a:pt x="484" y="82"/>
                  <a:pt x="474" y="74"/>
                  <a:pt x="465" y="66"/>
                </a:cubicBezTo>
                <a:cubicBezTo>
                  <a:pt x="457" y="60"/>
                  <a:pt x="449" y="59"/>
                  <a:pt x="440" y="63"/>
                </a:cubicBezTo>
                <a:cubicBezTo>
                  <a:pt x="430" y="68"/>
                  <a:pt x="420" y="74"/>
                  <a:pt x="409" y="79"/>
                </a:cubicBezTo>
                <a:cubicBezTo>
                  <a:pt x="401" y="84"/>
                  <a:pt x="392" y="86"/>
                  <a:pt x="383" y="83"/>
                </a:cubicBezTo>
                <a:cubicBezTo>
                  <a:pt x="373" y="79"/>
                  <a:pt x="363" y="75"/>
                  <a:pt x="355" y="71"/>
                </a:cubicBezTo>
                <a:cubicBezTo>
                  <a:pt x="348" y="67"/>
                  <a:pt x="342" y="61"/>
                  <a:pt x="340" y="54"/>
                </a:cubicBezTo>
                <a:cubicBezTo>
                  <a:pt x="336" y="42"/>
                  <a:pt x="333" y="30"/>
                  <a:pt x="330" y="19"/>
                </a:cubicBezTo>
                <a:cubicBezTo>
                  <a:pt x="327" y="11"/>
                  <a:pt x="318" y="2"/>
                  <a:pt x="310" y="1"/>
                </a:cubicBezTo>
                <a:cubicBezTo>
                  <a:pt x="293" y="0"/>
                  <a:pt x="276" y="0"/>
                  <a:pt x="258" y="1"/>
                </a:cubicBezTo>
                <a:cubicBezTo>
                  <a:pt x="249" y="2"/>
                  <a:pt x="240" y="9"/>
                  <a:pt x="238" y="18"/>
                </a:cubicBezTo>
                <a:cubicBezTo>
                  <a:pt x="234" y="30"/>
                  <a:pt x="231" y="42"/>
                  <a:pt x="227" y="53"/>
                </a:cubicBezTo>
                <a:cubicBezTo>
                  <a:pt x="225" y="61"/>
                  <a:pt x="219" y="68"/>
                  <a:pt x="212" y="71"/>
                </a:cubicBezTo>
                <a:cubicBezTo>
                  <a:pt x="204" y="75"/>
                  <a:pt x="195" y="79"/>
                  <a:pt x="186" y="83"/>
                </a:cubicBezTo>
                <a:cubicBezTo>
                  <a:pt x="177" y="86"/>
                  <a:pt x="167" y="85"/>
                  <a:pt x="159" y="81"/>
                </a:cubicBezTo>
                <a:cubicBezTo>
                  <a:pt x="149" y="76"/>
                  <a:pt x="138" y="69"/>
                  <a:pt x="128" y="64"/>
                </a:cubicBezTo>
                <a:cubicBezTo>
                  <a:pt x="120" y="60"/>
                  <a:pt x="110" y="60"/>
                  <a:pt x="103" y="66"/>
                </a:cubicBezTo>
                <a:cubicBezTo>
                  <a:pt x="89" y="77"/>
                  <a:pt x="76" y="89"/>
                  <a:pt x="66" y="104"/>
                </a:cubicBezTo>
                <a:cubicBezTo>
                  <a:pt x="60" y="111"/>
                  <a:pt x="60" y="120"/>
                  <a:pt x="64" y="129"/>
                </a:cubicBezTo>
                <a:cubicBezTo>
                  <a:pt x="69" y="139"/>
                  <a:pt x="75" y="149"/>
                  <a:pt x="81" y="159"/>
                </a:cubicBezTo>
                <a:cubicBezTo>
                  <a:pt x="85" y="167"/>
                  <a:pt x="86" y="176"/>
                  <a:pt x="83" y="184"/>
                </a:cubicBezTo>
                <a:cubicBezTo>
                  <a:pt x="79" y="193"/>
                  <a:pt x="75" y="204"/>
                  <a:pt x="71" y="214"/>
                </a:cubicBezTo>
                <a:cubicBezTo>
                  <a:pt x="67" y="221"/>
                  <a:pt x="62" y="226"/>
                  <a:pt x="54" y="229"/>
                </a:cubicBezTo>
                <a:cubicBezTo>
                  <a:pt x="43" y="233"/>
                  <a:pt x="32" y="236"/>
                  <a:pt x="20" y="239"/>
                </a:cubicBezTo>
                <a:cubicBezTo>
                  <a:pt x="11" y="241"/>
                  <a:pt x="3" y="249"/>
                  <a:pt x="1" y="260"/>
                </a:cubicBezTo>
                <a:cubicBezTo>
                  <a:pt x="0" y="277"/>
                  <a:pt x="1" y="295"/>
                  <a:pt x="2" y="312"/>
                </a:cubicBezTo>
                <a:cubicBezTo>
                  <a:pt x="3" y="322"/>
                  <a:pt x="10" y="328"/>
                  <a:pt x="18" y="331"/>
                </a:cubicBezTo>
                <a:cubicBezTo>
                  <a:pt x="29" y="335"/>
                  <a:pt x="39" y="338"/>
                  <a:pt x="50" y="341"/>
                </a:cubicBezTo>
                <a:cubicBezTo>
                  <a:pt x="60" y="344"/>
                  <a:pt x="67" y="350"/>
                  <a:pt x="71" y="360"/>
                </a:cubicBezTo>
                <a:cubicBezTo>
                  <a:pt x="75" y="369"/>
                  <a:pt x="79" y="378"/>
                  <a:pt x="82" y="387"/>
                </a:cubicBezTo>
                <a:cubicBezTo>
                  <a:pt x="84" y="391"/>
                  <a:pt x="88" y="395"/>
                  <a:pt x="85" y="400"/>
                </a:cubicBezTo>
                <a:cubicBezTo>
                  <a:pt x="85" y="403"/>
                  <a:pt x="84" y="405"/>
                  <a:pt x="82" y="408"/>
                </a:cubicBezTo>
                <a:cubicBezTo>
                  <a:pt x="77" y="419"/>
                  <a:pt x="71" y="429"/>
                  <a:pt x="65" y="440"/>
                </a:cubicBezTo>
                <a:cubicBezTo>
                  <a:pt x="60" y="452"/>
                  <a:pt x="60" y="461"/>
                  <a:pt x="68" y="470"/>
                </a:cubicBezTo>
                <a:cubicBezTo>
                  <a:pt x="75" y="477"/>
                  <a:pt x="81" y="484"/>
                  <a:pt x="87" y="490"/>
                </a:cubicBezTo>
                <a:cubicBezTo>
                  <a:pt x="93" y="495"/>
                  <a:pt x="97" y="500"/>
                  <a:pt x="103" y="505"/>
                </a:cubicBezTo>
                <a:cubicBezTo>
                  <a:pt x="110" y="512"/>
                  <a:pt x="119" y="511"/>
                  <a:pt x="127" y="508"/>
                </a:cubicBezTo>
                <a:cubicBezTo>
                  <a:pt x="136" y="503"/>
                  <a:pt x="145" y="498"/>
                  <a:pt x="153" y="494"/>
                </a:cubicBezTo>
                <a:cubicBezTo>
                  <a:pt x="163" y="487"/>
                  <a:pt x="173" y="485"/>
                  <a:pt x="184" y="489"/>
                </a:cubicBezTo>
                <a:cubicBezTo>
                  <a:pt x="193" y="493"/>
                  <a:pt x="201" y="496"/>
                  <a:pt x="210" y="500"/>
                </a:cubicBezTo>
                <a:cubicBezTo>
                  <a:pt x="218" y="503"/>
                  <a:pt x="225" y="509"/>
                  <a:pt x="229" y="518"/>
                </a:cubicBezTo>
                <a:cubicBezTo>
                  <a:pt x="232" y="529"/>
                  <a:pt x="235" y="540"/>
                  <a:pt x="238" y="551"/>
                </a:cubicBezTo>
                <a:cubicBezTo>
                  <a:pt x="240" y="559"/>
                  <a:pt x="244" y="565"/>
                  <a:pt x="252" y="568"/>
                </a:cubicBezTo>
                <a:cubicBezTo>
                  <a:pt x="259" y="570"/>
                  <a:pt x="266" y="570"/>
                  <a:pt x="273" y="571"/>
                </a:cubicBezTo>
                <a:cubicBezTo>
                  <a:pt x="285" y="571"/>
                  <a:pt x="298" y="569"/>
                  <a:pt x="310" y="569"/>
                </a:cubicBezTo>
                <a:cubicBezTo>
                  <a:pt x="319" y="569"/>
                  <a:pt x="328" y="559"/>
                  <a:pt x="330" y="551"/>
                </a:cubicBezTo>
                <a:cubicBezTo>
                  <a:pt x="332" y="541"/>
                  <a:pt x="336" y="530"/>
                  <a:pt x="339" y="520"/>
                </a:cubicBezTo>
                <a:cubicBezTo>
                  <a:pt x="342" y="512"/>
                  <a:pt x="348" y="505"/>
                  <a:pt x="356" y="501"/>
                </a:cubicBezTo>
                <a:cubicBezTo>
                  <a:pt x="365" y="497"/>
                  <a:pt x="374" y="494"/>
                  <a:pt x="383" y="490"/>
                </a:cubicBezTo>
                <a:cubicBezTo>
                  <a:pt x="390" y="486"/>
                  <a:pt x="398" y="486"/>
                  <a:pt x="405" y="489"/>
                </a:cubicBezTo>
                <a:cubicBezTo>
                  <a:pt x="414" y="493"/>
                  <a:pt x="422" y="498"/>
                  <a:pt x="430" y="502"/>
                </a:cubicBezTo>
                <a:cubicBezTo>
                  <a:pt x="437" y="505"/>
                  <a:pt x="444" y="511"/>
                  <a:pt x="452" y="509"/>
                </a:cubicBezTo>
                <a:cubicBezTo>
                  <a:pt x="457" y="509"/>
                  <a:pt x="462" y="507"/>
                  <a:pt x="466" y="504"/>
                </a:cubicBezTo>
                <a:cubicBezTo>
                  <a:pt x="479" y="493"/>
                  <a:pt x="490" y="481"/>
                  <a:pt x="501" y="468"/>
                </a:cubicBezTo>
                <a:cubicBezTo>
                  <a:pt x="508" y="460"/>
                  <a:pt x="508" y="452"/>
                  <a:pt x="504" y="442"/>
                </a:cubicBezTo>
                <a:cubicBezTo>
                  <a:pt x="499" y="434"/>
                  <a:pt x="495" y="425"/>
                  <a:pt x="490" y="417"/>
                </a:cubicBezTo>
                <a:cubicBezTo>
                  <a:pt x="483" y="405"/>
                  <a:pt x="482" y="393"/>
                  <a:pt x="488" y="380"/>
                </a:cubicBezTo>
                <a:cubicBezTo>
                  <a:pt x="490" y="376"/>
                  <a:pt x="493" y="371"/>
                  <a:pt x="495" y="364"/>
                </a:cubicBezTo>
                <a:cubicBezTo>
                  <a:pt x="499" y="354"/>
                  <a:pt x="504" y="345"/>
                  <a:pt x="515" y="341"/>
                </a:cubicBezTo>
                <a:cubicBezTo>
                  <a:pt x="526" y="338"/>
                  <a:pt x="537" y="334"/>
                  <a:pt x="548" y="331"/>
                </a:cubicBezTo>
                <a:cubicBezTo>
                  <a:pt x="556" y="329"/>
                  <a:pt x="565" y="320"/>
                  <a:pt x="565" y="312"/>
                </a:cubicBezTo>
                <a:cubicBezTo>
                  <a:pt x="566" y="300"/>
                  <a:pt x="567" y="287"/>
                  <a:pt x="567" y="275"/>
                </a:cubicBezTo>
                <a:cubicBezTo>
                  <a:pt x="567" y="269"/>
                  <a:pt x="565" y="264"/>
                  <a:pt x="565" y="260"/>
                </a:cubicBezTo>
                <a:close/>
                <a:moveTo>
                  <a:pt x="285" y="355"/>
                </a:moveTo>
                <a:cubicBezTo>
                  <a:pt x="246" y="355"/>
                  <a:pt x="215" y="324"/>
                  <a:pt x="215" y="285"/>
                </a:cubicBezTo>
                <a:cubicBezTo>
                  <a:pt x="215" y="246"/>
                  <a:pt x="246" y="215"/>
                  <a:pt x="285" y="215"/>
                </a:cubicBezTo>
                <a:cubicBezTo>
                  <a:pt x="324" y="215"/>
                  <a:pt x="355" y="246"/>
                  <a:pt x="355" y="285"/>
                </a:cubicBezTo>
                <a:cubicBezTo>
                  <a:pt x="355" y="324"/>
                  <a:pt x="324" y="355"/>
                  <a:pt x="285" y="3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3"/>
          <p:cNvSpPr txBox="1"/>
          <p:nvPr/>
        </p:nvSpPr>
        <p:spPr>
          <a:xfrm>
            <a:off x="902062" y="288536"/>
            <a:ext cx="7255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</a:rPr>
              <a:t>Strategic Undersampling &amp; Architecture</a:t>
            </a:r>
            <a:endParaRPr sz="1100">
              <a:solidFill>
                <a:schemeClr val="lt1"/>
              </a:solidFill>
            </a:endParaRPr>
          </a:p>
        </p:txBody>
      </p:sp>
      <p:grpSp>
        <p:nvGrpSpPr>
          <p:cNvPr id="680" name="Google Shape;680;p73"/>
          <p:cNvGrpSpPr/>
          <p:nvPr/>
        </p:nvGrpSpPr>
        <p:grpSpPr>
          <a:xfrm rot="-5847958">
            <a:off x="4966947" y="948218"/>
            <a:ext cx="3027504" cy="3417088"/>
            <a:chOff x="5854496" y="1844999"/>
            <a:chExt cx="2982451" cy="3366239"/>
          </a:xfrm>
        </p:grpSpPr>
        <p:sp>
          <p:nvSpPr>
            <p:cNvPr id="681" name="Google Shape;681;p73"/>
            <p:cNvSpPr/>
            <p:nvPr/>
          </p:nvSpPr>
          <p:spPr>
            <a:xfrm>
              <a:off x="7216322" y="2235749"/>
              <a:ext cx="1378095" cy="1399315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73"/>
            <p:cNvSpPr/>
            <p:nvPr/>
          </p:nvSpPr>
          <p:spPr>
            <a:xfrm>
              <a:off x="5854496" y="1844999"/>
              <a:ext cx="1378023" cy="139924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73"/>
            <p:cNvSpPr/>
            <p:nvPr/>
          </p:nvSpPr>
          <p:spPr>
            <a:xfrm>
              <a:off x="6129161" y="3244240"/>
              <a:ext cx="1275620" cy="129526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3"/>
            <p:cNvSpPr/>
            <p:nvPr/>
          </p:nvSpPr>
          <p:spPr>
            <a:xfrm rot="-1213279">
              <a:off x="7376787" y="3735435"/>
              <a:ext cx="1275620" cy="1295262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5" name="Google Shape;685;p73"/>
          <p:cNvSpPr txBox="1"/>
          <p:nvPr/>
        </p:nvSpPr>
        <p:spPr>
          <a:xfrm>
            <a:off x="320700" y="716700"/>
            <a:ext cx="4251300" cy="40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Class Balancing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Minority:</a:t>
            </a:r>
            <a:r>
              <a:rPr lang="en-GB" sz="1100">
                <a:solidFill>
                  <a:schemeClr val="lt1"/>
                </a:solidFill>
              </a:rPr>
              <a:t> Retained 100% of "Neutral" samples.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Majority:</a:t>
            </a:r>
            <a:r>
              <a:rPr lang="en-GB" sz="1100">
                <a:solidFill>
                  <a:schemeClr val="lt1"/>
                </a:solidFill>
              </a:rPr>
              <a:t> Randomly downsampled "Positive" and "Negative" to 2 times the size of Neutral.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i="1" lang="en-GB" sz="1100">
                <a:solidFill>
                  <a:schemeClr val="lt1"/>
                </a:solidFill>
              </a:rPr>
              <a:t>Result:</a:t>
            </a:r>
            <a:r>
              <a:rPr lang="en-GB" sz="1100">
                <a:solidFill>
                  <a:schemeClr val="lt1"/>
                </a:solidFill>
              </a:rPr>
              <a:t> Loss function weights minority classes sufficiently.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Pipeline Components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-GB" sz="1100">
                <a:solidFill>
                  <a:schemeClr val="lt1"/>
                </a:solidFill>
              </a:rPr>
              <a:t>Selection:</a:t>
            </a:r>
            <a:r>
              <a:rPr lang="en-GB" sz="1100">
                <a:solidFill>
                  <a:schemeClr val="lt1"/>
                </a:solidFill>
              </a:rPr>
              <a:t> </a:t>
            </a:r>
            <a:r>
              <a:rPr lang="en-GB" sz="1100">
                <a:solidFill>
                  <a:srgbClr val="188038"/>
                </a:solidFill>
              </a:rPr>
              <a:t>SelectKBest</a:t>
            </a:r>
            <a:r>
              <a:rPr lang="en-GB" sz="1100">
                <a:solidFill>
                  <a:schemeClr val="dk2"/>
                </a:solidFill>
              </a:rPr>
              <a:t> </a:t>
            </a:r>
            <a:r>
              <a:rPr lang="en-GB" sz="1100">
                <a:solidFill>
                  <a:schemeClr val="lt1"/>
                </a:solidFill>
              </a:rPr>
              <a:t>(ANOVA F-value) to remove noise.</a:t>
            </a:r>
            <a:endParaRPr sz="11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b="1" lang="en-GB" sz="1100">
                <a:solidFill>
                  <a:schemeClr val="lt1"/>
                </a:solidFill>
              </a:rPr>
              <a:t>Scaling:</a:t>
            </a:r>
            <a:r>
              <a:rPr lang="en-GB" sz="1100">
                <a:solidFill>
                  <a:schemeClr val="dk2"/>
                </a:solidFill>
              </a:rPr>
              <a:t> </a:t>
            </a:r>
            <a:r>
              <a:rPr lang="en-GB" sz="1100">
                <a:solidFill>
                  <a:srgbClr val="188038"/>
                </a:solidFill>
              </a:rPr>
              <a:t>StandardScaler</a:t>
            </a:r>
            <a:r>
              <a:rPr lang="en-GB" sz="1100">
                <a:solidFill>
                  <a:schemeClr val="lt1"/>
                </a:solidFill>
              </a:rPr>
              <a:t> for stable linear convergence. </a:t>
            </a:r>
            <a:r>
              <a:rPr b="1" lang="en-GB" sz="1100">
                <a:solidFill>
                  <a:schemeClr val="lt1"/>
                </a:solidFill>
              </a:rPr>
              <a:t>Classification:</a:t>
            </a:r>
            <a:r>
              <a:rPr lang="en-GB" sz="1100">
                <a:solidFill>
                  <a:schemeClr val="dk2"/>
                </a:solidFill>
              </a:rPr>
              <a:t> </a:t>
            </a:r>
            <a:r>
              <a:rPr lang="en-GB" sz="1100">
                <a:solidFill>
                  <a:srgbClr val="188038"/>
                </a:solidFill>
              </a:rPr>
              <a:t>Perceptron</a:t>
            </a:r>
            <a:r>
              <a:rPr lang="en-GB" sz="1100">
                <a:solidFill>
                  <a:schemeClr val="dk2"/>
                </a:solidFill>
              </a:rPr>
              <a:t> (</a:t>
            </a:r>
            <a:r>
              <a:rPr lang="en-GB" sz="1100">
                <a:solidFill>
                  <a:schemeClr val="lt1"/>
                </a:solidFill>
              </a:rPr>
              <a:t>SGD-based) wrapped in</a:t>
            </a:r>
            <a:r>
              <a:rPr lang="en-GB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</a:rPr>
              <a:t>CalibratedClassifierCV</a:t>
            </a:r>
            <a:r>
              <a:rPr lang="en-GB" sz="1100">
                <a:solidFill>
                  <a:schemeClr val="dk2"/>
                </a:solidFill>
              </a:rPr>
              <a:t> f</a:t>
            </a:r>
            <a:r>
              <a:rPr lang="en-GB" sz="1100">
                <a:solidFill>
                  <a:schemeClr val="lt1"/>
                </a:solidFill>
              </a:rPr>
              <a:t>or probabilistic outputs.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686" name="Google Shape;686;p73"/>
          <p:cNvSpPr/>
          <p:nvPr/>
        </p:nvSpPr>
        <p:spPr>
          <a:xfrm>
            <a:off x="382158" y="2661363"/>
            <a:ext cx="379800" cy="379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687" name="Google Shape;687;p73"/>
          <p:cNvSpPr/>
          <p:nvPr/>
        </p:nvSpPr>
        <p:spPr>
          <a:xfrm>
            <a:off x="382158" y="3507796"/>
            <a:ext cx="379800" cy="379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688" name="Google Shape;688;p73"/>
          <p:cNvSpPr/>
          <p:nvPr/>
        </p:nvSpPr>
        <p:spPr>
          <a:xfrm>
            <a:off x="382158" y="4325119"/>
            <a:ext cx="379800" cy="379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4"/>
          <p:cNvSpPr txBox="1"/>
          <p:nvPr/>
        </p:nvSpPr>
        <p:spPr>
          <a:xfrm>
            <a:off x="338537" y="251286"/>
            <a:ext cx="7255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lt1"/>
                </a:solidFill>
              </a:rPr>
              <a:t> Ensemble &amp; Optimization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694" name="Google Shape;694;p74"/>
          <p:cNvGrpSpPr/>
          <p:nvPr/>
        </p:nvGrpSpPr>
        <p:grpSpPr>
          <a:xfrm rot="-5847958">
            <a:off x="4966947" y="948218"/>
            <a:ext cx="3027504" cy="3417088"/>
            <a:chOff x="5854496" y="1844999"/>
            <a:chExt cx="2982451" cy="3366239"/>
          </a:xfrm>
        </p:grpSpPr>
        <p:sp>
          <p:nvSpPr>
            <p:cNvPr id="695" name="Google Shape;695;p74"/>
            <p:cNvSpPr/>
            <p:nvPr/>
          </p:nvSpPr>
          <p:spPr>
            <a:xfrm>
              <a:off x="7216322" y="2235749"/>
              <a:ext cx="1378095" cy="1399315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74"/>
            <p:cNvSpPr/>
            <p:nvPr/>
          </p:nvSpPr>
          <p:spPr>
            <a:xfrm>
              <a:off x="5854496" y="1844999"/>
              <a:ext cx="1378023" cy="139924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74"/>
            <p:cNvSpPr/>
            <p:nvPr/>
          </p:nvSpPr>
          <p:spPr>
            <a:xfrm>
              <a:off x="6129161" y="3244240"/>
              <a:ext cx="1275620" cy="1295261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74"/>
            <p:cNvSpPr/>
            <p:nvPr/>
          </p:nvSpPr>
          <p:spPr>
            <a:xfrm rot="-1213279">
              <a:off x="7376787" y="3735435"/>
              <a:ext cx="1275620" cy="1295262"/>
            </a:xfrm>
            <a:custGeom>
              <a:rect b="b" l="l" r="r" t="t"/>
              <a:pathLst>
                <a:path extrusionOk="0" h="571" w="567">
                  <a:moveTo>
                    <a:pt x="565" y="260"/>
                  </a:moveTo>
                  <a:cubicBezTo>
                    <a:pt x="566" y="250"/>
                    <a:pt x="557" y="241"/>
                    <a:pt x="548" y="239"/>
                  </a:cubicBezTo>
                  <a:cubicBezTo>
                    <a:pt x="537" y="236"/>
                    <a:pt x="526" y="232"/>
                    <a:pt x="515" y="229"/>
                  </a:cubicBezTo>
                  <a:cubicBezTo>
                    <a:pt x="506" y="227"/>
                    <a:pt x="499" y="219"/>
                    <a:pt x="495" y="210"/>
                  </a:cubicBezTo>
                  <a:cubicBezTo>
                    <a:pt x="492" y="202"/>
                    <a:pt x="489" y="193"/>
                    <a:pt x="486" y="186"/>
                  </a:cubicBezTo>
                  <a:cubicBezTo>
                    <a:pt x="480" y="177"/>
                    <a:pt x="480" y="170"/>
                    <a:pt x="485" y="162"/>
                  </a:cubicBezTo>
                  <a:cubicBezTo>
                    <a:pt x="490" y="153"/>
                    <a:pt x="495" y="145"/>
                    <a:pt x="499" y="137"/>
                  </a:cubicBezTo>
                  <a:cubicBezTo>
                    <a:pt x="502" y="131"/>
                    <a:pt x="506" y="126"/>
                    <a:pt x="506" y="119"/>
                  </a:cubicBezTo>
                  <a:cubicBezTo>
                    <a:pt x="507" y="106"/>
                    <a:pt x="499" y="98"/>
                    <a:pt x="492" y="91"/>
                  </a:cubicBezTo>
                  <a:cubicBezTo>
                    <a:pt x="484" y="82"/>
                    <a:pt x="474" y="74"/>
                    <a:pt x="465" y="66"/>
                  </a:cubicBezTo>
                  <a:cubicBezTo>
                    <a:pt x="457" y="60"/>
                    <a:pt x="449" y="59"/>
                    <a:pt x="440" y="63"/>
                  </a:cubicBezTo>
                  <a:cubicBezTo>
                    <a:pt x="430" y="68"/>
                    <a:pt x="420" y="74"/>
                    <a:pt x="409" y="79"/>
                  </a:cubicBezTo>
                  <a:cubicBezTo>
                    <a:pt x="401" y="84"/>
                    <a:pt x="392" y="86"/>
                    <a:pt x="383" y="83"/>
                  </a:cubicBezTo>
                  <a:cubicBezTo>
                    <a:pt x="373" y="79"/>
                    <a:pt x="363" y="75"/>
                    <a:pt x="355" y="71"/>
                  </a:cubicBezTo>
                  <a:cubicBezTo>
                    <a:pt x="348" y="67"/>
                    <a:pt x="342" y="61"/>
                    <a:pt x="340" y="54"/>
                  </a:cubicBezTo>
                  <a:cubicBezTo>
                    <a:pt x="336" y="42"/>
                    <a:pt x="333" y="30"/>
                    <a:pt x="330" y="19"/>
                  </a:cubicBezTo>
                  <a:cubicBezTo>
                    <a:pt x="327" y="11"/>
                    <a:pt x="318" y="2"/>
                    <a:pt x="310" y="1"/>
                  </a:cubicBezTo>
                  <a:cubicBezTo>
                    <a:pt x="293" y="0"/>
                    <a:pt x="276" y="0"/>
                    <a:pt x="258" y="1"/>
                  </a:cubicBezTo>
                  <a:cubicBezTo>
                    <a:pt x="249" y="2"/>
                    <a:pt x="240" y="9"/>
                    <a:pt x="238" y="18"/>
                  </a:cubicBezTo>
                  <a:cubicBezTo>
                    <a:pt x="234" y="30"/>
                    <a:pt x="231" y="42"/>
                    <a:pt x="227" y="53"/>
                  </a:cubicBezTo>
                  <a:cubicBezTo>
                    <a:pt x="225" y="61"/>
                    <a:pt x="219" y="68"/>
                    <a:pt x="212" y="71"/>
                  </a:cubicBezTo>
                  <a:cubicBezTo>
                    <a:pt x="204" y="75"/>
                    <a:pt x="195" y="79"/>
                    <a:pt x="186" y="83"/>
                  </a:cubicBezTo>
                  <a:cubicBezTo>
                    <a:pt x="177" y="86"/>
                    <a:pt x="167" y="85"/>
                    <a:pt x="159" y="81"/>
                  </a:cubicBezTo>
                  <a:cubicBezTo>
                    <a:pt x="149" y="76"/>
                    <a:pt x="138" y="69"/>
                    <a:pt x="128" y="64"/>
                  </a:cubicBezTo>
                  <a:cubicBezTo>
                    <a:pt x="120" y="60"/>
                    <a:pt x="110" y="60"/>
                    <a:pt x="103" y="66"/>
                  </a:cubicBezTo>
                  <a:cubicBezTo>
                    <a:pt x="89" y="77"/>
                    <a:pt x="76" y="89"/>
                    <a:pt x="66" y="104"/>
                  </a:cubicBezTo>
                  <a:cubicBezTo>
                    <a:pt x="60" y="111"/>
                    <a:pt x="60" y="120"/>
                    <a:pt x="64" y="129"/>
                  </a:cubicBezTo>
                  <a:cubicBezTo>
                    <a:pt x="69" y="139"/>
                    <a:pt x="75" y="149"/>
                    <a:pt x="81" y="159"/>
                  </a:cubicBezTo>
                  <a:cubicBezTo>
                    <a:pt x="85" y="167"/>
                    <a:pt x="86" y="176"/>
                    <a:pt x="83" y="184"/>
                  </a:cubicBezTo>
                  <a:cubicBezTo>
                    <a:pt x="79" y="193"/>
                    <a:pt x="75" y="204"/>
                    <a:pt x="71" y="214"/>
                  </a:cubicBezTo>
                  <a:cubicBezTo>
                    <a:pt x="67" y="221"/>
                    <a:pt x="62" y="226"/>
                    <a:pt x="54" y="229"/>
                  </a:cubicBezTo>
                  <a:cubicBezTo>
                    <a:pt x="43" y="233"/>
                    <a:pt x="32" y="236"/>
                    <a:pt x="20" y="239"/>
                  </a:cubicBezTo>
                  <a:cubicBezTo>
                    <a:pt x="11" y="241"/>
                    <a:pt x="3" y="249"/>
                    <a:pt x="1" y="260"/>
                  </a:cubicBezTo>
                  <a:cubicBezTo>
                    <a:pt x="0" y="277"/>
                    <a:pt x="1" y="295"/>
                    <a:pt x="2" y="312"/>
                  </a:cubicBezTo>
                  <a:cubicBezTo>
                    <a:pt x="3" y="322"/>
                    <a:pt x="10" y="328"/>
                    <a:pt x="18" y="331"/>
                  </a:cubicBezTo>
                  <a:cubicBezTo>
                    <a:pt x="29" y="335"/>
                    <a:pt x="39" y="338"/>
                    <a:pt x="50" y="341"/>
                  </a:cubicBezTo>
                  <a:cubicBezTo>
                    <a:pt x="60" y="344"/>
                    <a:pt x="67" y="350"/>
                    <a:pt x="71" y="360"/>
                  </a:cubicBezTo>
                  <a:cubicBezTo>
                    <a:pt x="75" y="369"/>
                    <a:pt x="79" y="378"/>
                    <a:pt x="82" y="387"/>
                  </a:cubicBezTo>
                  <a:cubicBezTo>
                    <a:pt x="84" y="391"/>
                    <a:pt x="88" y="395"/>
                    <a:pt x="85" y="400"/>
                  </a:cubicBezTo>
                  <a:cubicBezTo>
                    <a:pt x="85" y="403"/>
                    <a:pt x="84" y="405"/>
                    <a:pt x="82" y="408"/>
                  </a:cubicBezTo>
                  <a:cubicBezTo>
                    <a:pt x="77" y="419"/>
                    <a:pt x="71" y="429"/>
                    <a:pt x="65" y="440"/>
                  </a:cubicBezTo>
                  <a:cubicBezTo>
                    <a:pt x="60" y="452"/>
                    <a:pt x="60" y="461"/>
                    <a:pt x="68" y="470"/>
                  </a:cubicBezTo>
                  <a:cubicBezTo>
                    <a:pt x="75" y="477"/>
                    <a:pt x="81" y="484"/>
                    <a:pt x="87" y="490"/>
                  </a:cubicBezTo>
                  <a:cubicBezTo>
                    <a:pt x="93" y="495"/>
                    <a:pt x="97" y="500"/>
                    <a:pt x="103" y="505"/>
                  </a:cubicBezTo>
                  <a:cubicBezTo>
                    <a:pt x="110" y="512"/>
                    <a:pt x="119" y="511"/>
                    <a:pt x="127" y="508"/>
                  </a:cubicBezTo>
                  <a:cubicBezTo>
                    <a:pt x="136" y="503"/>
                    <a:pt x="145" y="498"/>
                    <a:pt x="153" y="494"/>
                  </a:cubicBezTo>
                  <a:cubicBezTo>
                    <a:pt x="163" y="487"/>
                    <a:pt x="173" y="485"/>
                    <a:pt x="184" y="489"/>
                  </a:cubicBezTo>
                  <a:cubicBezTo>
                    <a:pt x="193" y="493"/>
                    <a:pt x="201" y="496"/>
                    <a:pt x="210" y="500"/>
                  </a:cubicBezTo>
                  <a:cubicBezTo>
                    <a:pt x="218" y="503"/>
                    <a:pt x="225" y="509"/>
                    <a:pt x="229" y="518"/>
                  </a:cubicBezTo>
                  <a:cubicBezTo>
                    <a:pt x="232" y="529"/>
                    <a:pt x="235" y="540"/>
                    <a:pt x="238" y="551"/>
                  </a:cubicBezTo>
                  <a:cubicBezTo>
                    <a:pt x="240" y="559"/>
                    <a:pt x="244" y="565"/>
                    <a:pt x="252" y="568"/>
                  </a:cubicBezTo>
                  <a:cubicBezTo>
                    <a:pt x="259" y="570"/>
                    <a:pt x="266" y="570"/>
                    <a:pt x="273" y="571"/>
                  </a:cubicBezTo>
                  <a:cubicBezTo>
                    <a:pt x="285" y="571"/>
                    <a:pt x="298" y="569"/>
                    <a:pt x="310" y="569"/>
                  </a:cubicBezTo>
                  <a:cubicBezTo>
                    <a:pt x="319" y="569"/>
                    <a:pt x="328" y="559"/>
                    <a:pt x="330" y="551"/>
                  </a:cubicBezTo>
                  <a:cubicBezTo>
                    <a:pt x="332" y="541"/>
                    <a:pt x="336" y="530"/>
                    <a:pt x="339" y="520"/>
                  </a:cubicBezTo>
                  <a:cubicBezTo>
                    <a:pt x="342" y="512"/>
                    <a:pt x="348" y="505"/>
                    <a:pt x="356" y="501"/>
                  </a:cubicBezTo>
                  <a:cubicBezTo>
                    <a:pt x="365" y="497"/>
                    <a:pt x="374" y="494"/>
                    <a:pt x="383" y="490"/>
                  </a:cubicBezTo>
                  <a:cubicBezTo>
                    <a:pt x="390" y="486"/>
                    <a:pt x="398" y="486"/>
                    <a:pt x="405" y="489"/>
                  </a:cubicBezTo>
                  <a:cubicBezTo>
                    <a:pt x="414" y="493"/>
                    <a:pt x="422" y="498"/>
                    <a:pt x="430" y="502"/>
                  </a:cubicBezTo>
                  <a:cubicBezTo>
                    <a:pt x="437" y="505"/>
                    <a:pt x="444" y="511"/>
                    <a:pt x="452" y="509"/>
                  </a:cubicBezTo>
                  <a:cubicBezTo>
                    <a:pt x="457" y="509"/>
                    <a:pt x="462" y="507"/>
                    <a:pt x="466" y="504"/>
                  </a:cubicBezTo>
                  <a:cubicBezTo>
                    <a:pt x="479" y="493"/>
                    <a:pt x="490" y="481"/>
                    <a:pt x="501" y="468"/>
                  </a:cubicBezTo>
                  <a:cubicBezTo>
                    <a:pt x="508" y="460"/>
                    <a:pt x="508" y="452"/>
                    <a:pt x="504" y="442"/>
                  </a:cubicBezTo>
                  <a:cubicBezTo>
                    <a:pt x="499" y="434"/>
                    <a:pt x="495" y="425"/>
                    <a:pt x="490" y="417"/>
                  </a:cubicBezTo>
                  <a:cubicBezTo>
                    <a:pt x="483" y="405"/>
                    <a:pt x="482" y="393"/>
                    <a:pt x="488" y="380"/>
                  </a:cubicBezTo>
                  <a:cubicBezTo>
                    <a:pt x="490" y="376"/>
                    <a:pt x="493" y="371"/>
                    <a:pt x="495" y="364"/>
                  </a:cubicBezTo>
                  <a:cubicBezTo>
                    <a:pt x="499" y="354"/>
                    <a:pt x="504" y="345"/>
                    <a:pt x="515" y="341"/>
                  </a:cubicBezTo>
                  <a:cubicBezTo>
                    <a:pt x="526" y="338"/>
                    <a:pt x="537" y="334"/>
                    <a:pt x="548" y="331"/>
                  </a:cubicBezTo>
                  <a:cubicBezTo>
                    <a:pt x="556" y="329"/>
                    <a:pt x="565" y="320"/>
                    <a:pt x="565" y="312"/>
                  </a:cubicBezTo>
                  <a:cubicBezTo>
                    <a:pt x="566" y="300"/>
                    <a:pt x="567" y="287"/>
                    <a:pt x="567" y="275"/>
                  </a:cubicBezTo>
                  <a:cubicBezTo>
                    <a:pt x="567" y="269"/>
                    <a:pt x="565" y="264"/>
                    <a:pt x="565" y="260"/>
                  </a:cubicBezTo>
                  <a:close/>
                  <a:moveTo>
                    <a:pt x="285" y="355"/>
                  </a:moveTo>
                  <a:cubicBezTo>
                    <a:pt x="246" y="355"/>
                    <a:pt x="215" y="324"/>
                    <a:pt x="215" y="285"/>
                  </a:cubicBezTo>
                  <a:cubicBezTo>
                    <a:pt x="215" y="246"/>
                    <a:pt x="246" y="215"/>
                    <a:pt x="285" y="215"/>
                  </a:cubicBezTo>
                  <a:cubicBezTo>
                    <a:pt x="324" y="215"/>
                    <a:pt x="355" y="246"/>
                    <a:pt x="355" y="285"/>
                  </a:cubicBezTo>
                  <a:cubicBezTo>
                    <a:pt x="355" y="324"/>
                    <a:pt x="324" y="355"/>
                    <a:pt x="285" y="3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282F3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9" name="Google Shape;699;p74"/>
          <p:cNvSpPr txBox="1"/>
          <p:nvPr/>
        </p:nvSpPr>
        <p:spPr>
          <a:xfrm>
            <a:off x="338525" y="942525"/>
            <a:ext cx="4251300" cy="3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</a:rPr>
              <a:t>Ensemble Stabilization (Bagging)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Technique:</a:t>
            </a:r>
            <a:r>
              <a:rPr lang="en-GB" sz="1100">
                <a:solidFill>
                  <a:schemeClr val="lt1"/>
                </a:solidFill>
              </a:rPr>
              <a:t> Bootstrap Aggregating with 10 independent estimators.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Training:</a:t>
            </a:r>
            <a:r>
              <a:rPr lang="en-GB" sz="1100">
                <a:solidFill>
                  <a:schemeClr val="lt1"/>
                </a:solidFill>
              </a:rPr>
              <a:t> Each estimator sees a random 70% subset of balanced data.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Output:</a:t>
            </a:r>
            <a:r>
              <a:rPr lang="en-GB" sz="1100">
                <a:solidFill>
                  <a:schemeClr val="lt1"/>
                </a:solidFill>
              </a:rPr>
              <a:t> Averaged probabilities to reduce variance.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</a:rPr>
              <a:t>Decision Threshold Optimization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Problem:</a:t>
            </a:r>
            <a:r>
              <a:rPr lang="en-GB" sz="1100">
                <a:solidFill>
                  <a:schemeClr val="lt1"/>
                </a:solidFill>
              </a:rPr>
              <a:t> Standard "Argmax" favors the majority class.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Solution:</a:t>
            </a:r>
            <a:r>
              <a:rPr lang="en-GB" sz="1100">
                <a:solidFill>
                  <a:schemeClr val="lt1"/>
                </a:solidFill>
              </a:rPr>
              <a:t> Grid search for optimal probability thresholds on the validation set.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Goal:</a:t>
            </a:r>
            <a:r>
              <a:rPr lang="en-GB" sz="1100">
                <a:solidFill>
                  <a:schemeClr val="lt1"/>
                </a:solidFill>
              </a:rPr>
              <a:t> Maximize Macro F1-Score, not Accuracy.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5"/>
          <p:cNvSpPr txBox="1"/>
          <p:nvPr/>
        </p:nvSpPr>
        <p:spPr>
          <a:xfrm>
            <a:off x="425862" y="249026"/>
            <a:ext cx="8073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en-GB" sz="1800">
                <a:solidFill>
                  <a:schemeClr val="lt1"/>
                </a:solidFill>
              </a:rPr>
              <a:t>Results - Baseline vs. Hybrid</a:t>
            </a:r>
            <a:endParaRPr sz="4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5" name="Google Shape;705;p75"/>
          <p:cNvSpPr/>
          <p:nvPr/>
        </p:nvSpPr>
        <p:spPr>
          <a:xfrm>
            <a:off x="5116835" y="897041"/>
            <a:ext cx="3336900" cy="3427500"/>
          </a:xfrm>
          <a:prstGeom prst="blockArc">
            <a:avLst>
              <a:gd fmla="val 15281230" name="adj1"/>
              <a:gd fmla="val 17254064" name="adj2"/>
              <a:gd fmla="val 279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75"/>
          <p:cNvSpPr/>
          <p:nvPr/>
        </p:nvSpPr>
        <p:spPr>
          <a:xfrm rot="-2700000">
            <a:off x="5116735" y="896226"/>
            <a:ext cx="3336837" cy="3427205"/>
          </a:xfrm>
          <a:prstGeom prst="blockArc">
            <a:avLst>
              <a:gd fmla="val 15358064" name="adj1"/>
              <a:gd fmla="val 17279267" name="adj2"/>
              <a:gd fmla="val 516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75"/>
          <p:cNvSpPr/>
          <p:nvPr/>
        </p:nvSpPr>
        <p:spPr>
          <a:xfrm rot="-5400000">
            <a:off x="5116947" y="896283"/>
            <a:ext cx="3336600" cy="3427500"/>
          </a:xfrm>
          <a:prstGeom prst="blockArc">
            <a:avLst>
              <a:gd fmla="val 15358064" name="adj1"/>
              <a:gd fmla="val 17279742" name="adj2"/>
              <a:gd fmla="val 7546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75"/>
          <p:cNvSpPr/>
          <p:nvPr/>
        </p:nvSpPr>
        <p:spPr>
          <a:xfrm rot="-8117047">
            <a:off x="5112253" y="896007"/>
            <a:ext cx="3336878" cy="3427671"/>
          </a:xfrm>
          <a:prstGeom prst="blockArc">
            <a:avLst>
              <a:gd fmla="val 15358064" name="adj1"/>
              <a:gd fmla="val 17217353" name="adj2"/>
              <a:gd fmla="val 9023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75"/>
          <p:cNvSpPr/>
          <p:nvPr/>
        </p:nvSpPr>
        <p:spPr>
          <a:xfrm rot="10800000">
            <a:off x="5107727" y="896169"/>
            <a:ext cx="3336600" cy="3427500"/>
          </a:xfrm>
          <a:prstGeom prst="blockArc">
            <a:avLst>
              <a:gd fmla="val 15358064" name="adj1"/>
              <a:gd fmla="val 17122234" name="adj2"/>
              <a:gd fmla="val 11092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75"/>
          <p:cNvSpPr/>
          <p:nvPr/>
        </p:nvSpPr>
        <p:spPr>
          <a:xfrm rot="8233575">
            <a:off x="5154028" y="895988"/>
            <a:ext cx="3336598" cy="3427674"/>
          </a:xfrm>
          <a:prstGeom prst="blockArc">
            <a:avLst>
              <a:gd fmla="val 15358064" name="adj1"/>
              <a:gd fmla="val 17071974" name="adj2"/>
              <a:gd fmla="val 1430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75"/>
          <p:cNvSpPr/>
          <p:nvPr/>
        </p:nvSpPr>
        <p:spPr>
          <a:xfrm rot="5600699">
            <a:off x="5107553" y="896255"/>
            <a:ext cx="3336885" cy="3427346"/>
          </a:xfrm>
          <a:prstGeom prst="blockArc">
            <a:avLst>
              <a:gd fmla="val 15358064" name="adj1"/>
              <a:gd fmla="val 17173229" name="adj2"/>
              <a:gd fmla="val 18059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75"/>
          <p:cNvSpPr/>
          <p:nvPr/>
        </p:nvSpPr>
        <p:spPr>
          <a:xfrm rot="2641642">
            <a:off x="5116830" y="895369"/>
            <a:ext cx="3336681" cy="3427489"/>
          </a:xfrm>
          <a:prstGeom prst="blockArc">
            <a:avLst>
              <a:gd fmla="val 15358064" name="adj1"/>
              <a:gd fmla="val 17399391" name="adj2"/>
              <a:gd fmla="val 2445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75"/>
          <p:cNvSpPr txBox="1"/>
          <p:nvPr/>
        </p:nvSpPr>
        <p:spPr>
          <a:xfrm>
            <a:off x="5704928" y="2284589"/>
            <a:ext cx="1962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4" name="Google Shape;714;p75"/>
          <p:cNvSpPr txBox="1"/>
          <p:nvPr/>
        </p:nvSpPr>
        <p:spPr>
          <a:xfrm>
            <a:off x="425850" y="1078000"/>
            <a:ext cx="43512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1. Baseline (Lexicon-Only)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The Accuracy Paradox:</a:t>
            </a:r>
            <a:r>
              <a:rPr lang="en-GB" sz="1100">
                <a:solidFill>
                  <a:schemeClr val="lt1"/>
                </a:solidFill>
              </a:rPr>
              <a:t> 81.9% Accuracy, but </a:t>
            </a:r>
            <a:r>
              <a:rPr b="1" lang="en-GB" sz="1100">
                <a:solidFill>
                  <a:schemeClr val="lt1"/>
                </a:solidFill>
              </a:rPr>
              <a:t>0.00 Recall</a:t>
            </a:r>
            <a:r>
              <a:rPr lang="en-GB" sz="1100">
                <a:solidFill>
                  <a:schemeClr val="lt1"/>
                </a:solidFill>
              </a:rPr>
              <a:t> for Neutral/Negative.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Function:</a:t>
            </a:r>
            <a:r>
              <a:rPr lang="en-GB" sz="1100">
                <a:solidFill>
                  <a:schemeClr val="lt1"/>
                </a:solidFill>
              </a:rPr>
              <a:t> Acted as a trivial "Positive Detector."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</a:rPr>
              <a:t>2. Hybrid Model (Feature Engineering)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Interaction Features:</a:t>
            </a:r>
            <a:r>
              <a:rPr lang="en-GB" sz="1100">
                <a:solidFill>
                  <a:schemeClr val="lt1"/>
                </a:solidFill>
              </a:rPr>
              <a:t> Successfully "unlocked" Negative sentiment.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Improvement:</a:t>
            </a:r>
            <a:r>
              <a:rPr lang="en-GB" sz="1100">
                <a:solidFill>
                  <a:schemeClr val="lt1"/>
                </a:solidFill>
              </a:rPr>
              <a:t> Negative Recall rose to </a:t>
            </a:r>
            <a:r>
              <a:rPr b="1" lang="en-GB" sz="1100">
                <a:solidFill>
                  <a:schemeClr val="lt1"/>
                </a:solidFill>
              </a:rPr>
              <a:t>0.18</a:t>
            </a:r>
            <a:r>
              <a:rPr lang="en-GB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Limitation:</a:t>
            </a:r>
            <a:r>
              <a:rPr lang="en-GB" sz="1100">
                <a:solidFill>
                  <a:schemeClr val="lt1"/>
                </a:solidFill>
              </a:rPr>
              <a:t> Neutral class remained undetected (Recall 0.00).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6"/>
          <p:cNvSpPr txBox="1"/>
          <p:nvPr/>
        </p:nvSpPr>
        <p:spPr>
          <a:xfrm>
            <a:off x="425862" y="249026"/>
            <a:ext cx="8073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lt1"/>
                </a:solidFill>
              </a:rPr>
              <a:t>Results - Final Optimized Ensemble</a:t>
            </a:r>
            <a:endParaRPr sz="39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0" name="Google Shape;720;p76"/>
          <p:cNvSpPr txBox="1"/>
          <p:nvPr/>
        </p:nvSpPr>
        <p:spPr>
          <a:xfrm>
            <a:off x="425850" y="1078000"/>
            <a:ext cx="43512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</a:rPr>
              <a:t>The Breakthrough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Macro F1-Score:</a:t>
            </a:r>
            <a:r>
              <a:rPr lang="en-GB" sz="1100">
                <a:solidFill>
                  <a:schemeClr val="lt1"/>
                </a:solidFill>
              </a:rPr>
              <a:t> Peaked at </a:t>
            </a:r>
            <a:r>
              <a:rPr b="1" lang="en-GB" sz="1100">
                <a:solidFill>
                  <a:schemeClr val="lt1"/>
                </a:solidFill>
              </a:rPr>
              <a:t>0.47</a:t>
            </a:r>
            <a:r>
              <a:rPr lang="en-GB" sz="1100">
                <a:solidFill>
                  <a:schemeClr val="lt1"/>
                </a:solidFill>
              </a:rPr>
              <a:t> (56% improvement over baseline).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Unlocking Neutral:</a:t>
            </a:r>
            <a:r>
              <a:rPr lang="en-GB" sz="1100">
                <a:solidFill>
                  <a:schemeClr val="lt1"/>
                </a:solidFill>
              </a:rPr>
              <a:t> Threshold tuning raised Neutral Recall to </a:t>
            </a:r>
            <a:r>
              <a:rPr b="1" lang="en-GB" sz="1100">
                <a:solidFill>
                  <a:schemeClr val="lt1"/>
                </a:solidFill>
              </a:rPr>
              <a:t>0.17</a:t>
            </a:r>
            <a:r>
              <a:rPr lang="en-GB" sz="1100">
                <a:solidFill>
                  <a:schemeClr val="lt1"/>
                </a:solidFill>
              </a:rPr>
              <a:t> (previously 0).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Negative Detection:</a:t>
            </a:r>
            <a:r>
              <a:rPr lang="en-GB" sz="1100">
                <a:solidFill>
                  <a:schemeClr val="lt1"/>
                </a:solidFill>
              </a:rPr>
              <a:t> Massive improvement to </a:t>
            </a:r>
            <a:r>
              <a:rPr b="1" lang="en-GB" sz="1100">
                <a:solidFill>
                  <a:schemeClr val="lt1"/>
                </a:solidFill>
              </a:rPr>
              <a:t>0.43 Recall</a:t>
            </a:r>
            <a:r>
              <a:rPr lang="en-GB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</a:rPr>
              <a:t>The Trade-off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Accuracy:</a:t>
            </a:r>
            <a:r>
              <a:rPr lang="en-GB" sz="1100">
                <a:solidFill>
                  <a:schemeClr val="lt1"/>
                </a:solidFill>
              </a:rPr>
              <a:t> Dropped from 82% to </a:t>
            </a:r>
            <a:r>
              <a:rPr b="1" lang="en-GB" sz="1100">
                <a:solidFill>
                  <a:schemeClr val="lt1"/>
                </a:solidFill>
              </a:rPr>
              <a:t>76%</a:t>
            </a:r>
            <a:r>
              <a:rPr lang="en-GB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</a:rPr>
              <a:t>Positive Recall:</a:t>
            </a:r>
            <a:r>
              <a:rPr lang="en-GB" sz="1100">
                <a:solidFill>
                  <a:schemeClr val="lt1"/>
                </a:solidFill>
              </a:rPr>
              <a:t> Dropped from 98% to </a:t>
            </a:r>
            <a:r>
              <a:rPr b="1" lang="en-GB" sz="1100">
                <a:solidFill>
                  <a:schemeClr val="lt1"/>
                </a:solidFill>
              </a:rPr>
              <a:t>86%</a:t>
            </a:r>
            <a:r>
              <a:rPr lang="en-GB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i="1" lang="en-GB" sz="1100">
                <a:solidFill>
                  <a:schemeClr val="lt1"/>
                </a:solidFill>
              </a:rPr>
              <a:t>Conclusion:</a:t>
            </a:r>
            <a:r>
              <a:rPr lang="en-GB" sz="1100">
                <a:solidFill>
                  <a:schemeClr val="lt1"/>
                </a:solidFill>
              </a:rPr>
              <a:t> We traded superficial accuracy for algorithmic fairness.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  <p:pic>
        <p:nvPicPr>
          <p:cNvPr id="721" name="Google Shape;72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450" y="1627904"/>
            <a:ext cx="4062151" cy="2239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7"/>
          <p:cNvSpPr txBox="1"/>
          <p:nvPr/>
        </p:nvSpPr>
        <p:spPr>
          <a:xfrm>
            <a:off x="425862" y="249026"/>
            <a:ext cx="8073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Performance Comparison</a:t>
            </a:r>
            <a:endParaRPr sz="36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727" name="Google Shape;72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75" y="2091600"/>
            <a:ext cx="3742624" cy="27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425" y="1019075"/>
            <a:ext cx="4750177" cy="245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8"/>
          <p:cNvSpPr txBox="1"/>
          <p:nvPr>
            <p:ph type="title"/>
          </p:nvPr>
        </p:nvSpPr>
        <p:spPr>
          <a:xfrm>
            <a:off x="3863825" y="3253300"/>
            <a:ext cx="38979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latin typeface="Montserrat"/>
                <a:ea typeface="Montserrat"/>
                <a:cs typeface="Montserrat"/>
                <a:sym typeface="Montserrat"/>
              </a:rPr>
              <a:t>Support Vector Machine</a:t>
            </a:r>
            <a:endParaRPr b="1" sz="2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latin typeface="Montserrat"/>
                <a:ea typeface="Montserrat"/>
                <a:cs typeface="Montserrat"/>
                <a:sym typeface="Montserrat"/>
              </a:rPr>
              <a:t>(SVM)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78"/>
          <p:cNvSpPr txBox="1"/>
          <p:nvPr/>
        </p:nvSpPr>
        <p:spPr>
          <a:xfrm>
            <a:off x="2037675" y="3157650"/>
            <a:ext cx="13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6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735" name="Google Shape;735;p78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736" name="Google Shape;736;p78"/>
          <p:cNvSpPr txBox="1"/>
          <p:nvPr>
            <p:ph idx="1" type="subTitle"/>
          </p:nvPr>
        </p:nvSpPr>
        <p:spPr>
          <a:xfrm>
            <a:off x="3774520" y="40733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GB" sz="1500"/>
              <a:t>Amira Ibrahim Elshehaby</a:t>
            </a:r>
            <a:endParaRPr sz="1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9"/>
          <p:cNvSpPr txBox="1"/>
          <p:nvPr>
            <p:ph type="title"/>
          </p:nvPr>
        </p:nvSpPr>
        <p:spPr>
          <a:xfrm>
            <a:off x="1229400" y="932550"/>
            <a:ext cx="6685200" cy="32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Enhancing SVM Sentiment Classification through Hybrid Resampling and Stochastic Optimization</a:t>
            </a:r>
            <a:endParaRPr b="1" sz="21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Challenge 1: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GB" sz="24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Large-scale, imbalanced sentiment data</a:t>
            </a:r>
            <a:endParaRPr b="1" sz="14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2" name="Google Shape;742;p79"/>
          <p:cNvCxnSpPr>
            <a:stCxn id="741" idx="1"/>
            <a:endCxn id="741" idx="3"/>
          </p:cNvCxnSpPr>
          <p:nvPr/>
        </p:nvCxnSpPr>
        <p:spPr>
          <a:xfrm>
            <a:off x="1229400" y="2571750"/>
            <a:ext cx="66852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8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chemeClr val="lt1"/>
                </a:solidFill>
              </a:rPr>
              <a:t>Aim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8" name="Google Shape;748;p80"/>
          <p:cNvSpPr txBox="1"/>
          <p:nvPr>
            <p:ph idx="1" type="body"/>
          </p:nvPr>
        </p:nvSpPr>
        <p:spPr>
          <a:xfrm>
            <a:off x="972375" y="1548250"/>
            <a:ext cx="6615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Improve minority class detection (Neutral &amp; Negative)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Maintain scalability for very large datasets</a:t>
            </a:r>
            <a:br>
              <a:rPr lang="en-GB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Compare linear, hybrid, ensemble, and deep models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cxnSp>
        <p:nvCxnSpPr>
          <p:cNvPr id="749" name="Google Shape;749;p80"/>
          <p:cNvCxnSpPr/>
          <p:nvPr/>
        </p:nvCxnSpPr>
        <p:spPr>
          <a:xfrm>
            <a:off x="745899" y="11016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2"/>
          <p:cNvSpPr txBox="1"/>
          <p:nvPr>
            <p:ph type="title"/>
          </p:nvPr>
        </p:nvSpPr>
        <p:spPr>
          <a:xfrm>
            <a:off x="677775" y="343700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Severe Class Imbalance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9" name="Google Shape;759;p82"/>
          <p:cNvSpPr txBox="1"/>
          <p:nvPr>
            <p:ph idx="1" type="body"/>
          </p:nvPr>
        </p:nvSpPr>
        <p:spPr>
          <a:xfrm>
            <a:off x="1133325" y="1017875"/>
            <a:ext cx="6430200" cy="3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Severe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class imbalance</a:t>
            </a:r>
            <a:br>
              <a:rPr b="1" lang="en-GB" sz="1700">
                <a:latin typeface="Arial"/>
                <a:ea typeface="Arial"/>
                <a:cs typeface="Arial"/>
                <a:sym typeface="Arial"/>
              </a:rPr>
            </a:b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Positive: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81.9%</a:t>
            </a:r>
            <a:br>
              <a:rPr b="1" lang="en-GB" sz="1700">
                <a:latin typeface="Arial"/>
                <a:ea typeface="Arial"/>
                <a:cs typeface="Arial"/>
                <a:sym typeface="Arial"/>
              </a:rPr>
            </a:b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Neutral &amp; Negative: minority classes</a:t>
            </a:r>
            <a:br>
              <a:rPr lang="en-GB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Baseline SVM suffered from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Neutral Collapse</a:t>
            </a:r>
            <a:br>
              <a:rPr b="1" lang="en-GB" sz="1700">
                <a:latin typeface="Arial"/>
                <a:ea typeface="Arial"/>
                <a:cs typeface="Arial"/>
                <a:sym typeface="Arial"/>
              </a:rPr>
            </a:b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❏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Neutral Recall = 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0.00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760" name="Google Shape;760;p82"/>
          <p:cNvCxnSpPr/>
          <p:nvPr/>
        </p:nvCxnSpPr>
        <p:spPr>
          <a:xfrm>
            <a:off x="880024" y="93512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3"/>
          <p:cNvSpPr txBox="1"/>
          <p:nvPr>
            <p:ph idx="1" type="subTitle"/>
          </p:nvPr>
        </p:nvSpPr>
        <p:spPr>
          <a:xfrm>
            <a:off x="2481900" y="8431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Pipeline of Improvement</a:t>
            </a:r>
            <a:endParaRPr sz="22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66" name="Google Shape;766;p83"/>
          <p:cNvPicPr preferRelativeResize="0"/>
          <p:nvPr/>
        </p:nvPicPr>
        <p:blipFill rotWithShape="1">
          <a:blip r:embed="rId3">
            <a:alphaModFix/>
          </a:blip>
          <a:srcRect b="29113" l="0" r="0" t="0"/>
          <a:stretch/>
        </p:blipFill>
        <p:spPr>
          <a:xfrm>
            <a:off x="152400" y="2003375"/>
            <a:ext cx="8839200" cy="68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7" name="Google Shape;767;p83"/>
          <p:cNvCxnSpPr/>
          <p:nvPr/>
        </p:nvCxnSpPr>
        <p:spPr>
          <a:xfrm>
            <a:off x="3190499" y="151067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Google Shape;772;p84"/>
          <p:cNvGrpSpPr/>
          <p:nvPr/>
        </p:nvGrpSpPr>
        <p:grpSpPr>
          <a:xfrm>
            <a:off x="2610863" y="3073986"/>
            <a:ext cx="326106" cy="423908"/>
            <a:chOff x="3990517" y="3354173"/>
            <a:chExt cx="279559" cy="363402"/>
          </a:xfrm>
        </p:grpSpPr>
        <p:sp>
          <p:nvSpPr>
            <p:cNvPr id="773" name="Google Shape;773;p84"/>
            <p:cNvSpPr/>
            <p:nvPr/>
          </p:nvSpPr>
          <p:spPr>
            <a:xfrm>
              <a:off x="3990517" y="3354173"/>
              <a:ext cx="279559" cy="363402"/>
            </a:xfrm>
            <a:custGeom>
              <a:rect b="b" l="l" r="r" t="t"/>
              <a:pathLst>
                <a:path extrusionOk="0" h="11408" w="8776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84"/>
            <p:cNvSpPr/>
            <p:nvPr/>
          </p:nvSpPr>
          <p:spPr>
            <a:xfrm>
              <a:off x="4102009" y="3418680"/>
              <a:ext cx="36824" cy="37175"/>
            </a:xfrm>
            <a:custGeom>
              <a:rect b="b" l="l" r="r" t="t"/>
              <a:pathLst>
                <a:path extrusionOk="0" h="1167" w="1156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84"/>
            <p:cNvSpPr/>
            <p:nvPr/>
          </p:nvSpPr>
          <p:spPr>
            <a:xfrm>
              <a:off x="4083820" y="3615129"/>
              <a:ext cx="37175" cy="36824"/>
            </a:xfrm>
            <a:custGeom>
              <a:rect b="b" l="l" r="r" t="t"/>
              <a:pathLst>
                <a:path extrusionOk="0" h="1156" w="1167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6" name="Google Shape;776;p84"/>
          <p:cNvSpPr/>
          <p:nvPr/>
        </p:nvSpPr>
        <p:spPr>
          <a:xfrm>
            <a:off x="6158127" y="3080929"/>
            <a:ext cx="423884" cy="409986"/>
          </a:xfrm>
          <a:custGeom>
            <a:rect b="b" l="l" r="r" t="t"/>
            <a:pathLst>
              <a:path extrusionOk="0" h="11033" w="11407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84"/>
          <p:cNvSpPr/>
          <p:nvPr/>
        </p:nvSpPr>
        <p:spPr>
          <a:xfrm>
            <a:off x="7788389" y="2034950"/>
            <a:ext cx="423884" cy="409986"/>
          </a:xfrm>
          <a:custGeom>
            <a:rect b="b" l="l" r="r" t="t"/>
            <a:pathLst>
              <a:path extrusionOk="0" h="11033" w="11407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84"/>
          <p:cNvSpPr txBox="1"/>
          <p:nvPr>
            <p:ph type="title"/>
          </p:nvPr>
        </p:nvSpPr>
        <p:spPr>
          <a:xfrm>
            <a:off x="2246725" y="273050"/>
            <a:ext cx="4219200" cy="7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Methodology </a:t>
            </a:r>
            <a:r>
              <a:rPr b="1" lang="en-GB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9" name="Google Shape;779;p84"/>
          <p:cNvSpPr txBox="1"/>
          <p:nvPr>
            <p:ph idx="1" type="body"/>
          </p:nvPr>
        </p:nvSpPr>
        <p:spPr>
          <a:xfrm>
            <a:off x="415500" y="1180250"/>
            <a:ext cx="8313000" cy="3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Iterative Improvement Pipeline :</a:t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❏"/>
            </a:pPr>
            <a:r>
              <a:rPr lang="en-GB"/>
              <a:t>Baseline Linear SVM</a:t>
            </a:r>
            <a:br>
              <a:rPr lang="en-GB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❏"/>
            </a:pPr>
            <a:r>
              <a:rPr lang="en-GB"/>
              <a:t>Cost-Sensitive Learning</a:t>
            </a:r>
            <a:br>
              <a:rPr lang="en-GB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❏"/>
            </a:pPr>
            <a:r>
              <a:rPr lang="en-GB"/>
              <a:t>Data Balancing (SMOTE)</a:t>
            </a:r>
            <a:br>
              <a:rPr lang="en-GB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❏"/>
            </a:pPr>
            <a:r>
              <a:rPr lang="en-GB"/>
              <a:t>Scalable Optimization (SGD)</a:t>
            </a:r>
            <a:br>
              <a:rPr lang="en-GB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❏"/>
            </a:pPr>
            <a:r>
              <a:rPr lang="en-GB"/>
              <a:t>Hybrid Model (SMOTE + SGD)</a:t>
            </a:r>
            <a:br>
              <a:rPr lang="en-GB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❏"/>
            </a:pPr>
            <a:r>
              <a:rPr lang="en-GB"/>
              <a:t>Model Performance Comparison: Baseline SVM vs. Optimized Hybrid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❏"/>
            </a:pPr>
            <a:r>
              <a:rPr lang="en-GB"/>
              <a:t>Deep Learning</a:t>
            </a:r>
            <a:endParaRPr sz="1600"/>
          </a:p>
        </p:txBody>
      </p:sp>
      <p:cxnSp>
        <p:nvCxnSpPr>
          <p:cNvPr id="780" name="Google Shape;780;p84"/>
          <p:cNvCxnSpPr/>
          <p:nvPr/>
        </p:nvCxnSpPr>
        <p:spPr>
          <a:xfrm>
            <a:off x="2974824" y="85847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85"/>
          <p:cNvSpPr txBox="1"/>
          <p:nvPr>
            <p:ph type="title"/>
          </p:nvPr>
        </p:nvSpPr>
        <p:spPr>
          <a:xfrm>
            <a:off x="716475" y="28467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Baseline Model (CSV Linear)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6" name="Google Shape;78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00" y="1078025"/>
            <a:ext cx="4352174" cy="3452276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85"/>
          <p:cNvSpPr txBox="1"/>
          <p:nvPr/>
        </p:nvSpPr>
        <p:spPr>
          <a:xfrm>
            <a:off x="5033875" y="1063263"/>
            <a:ext cx="38976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b="1" lang="en-GB" sz="1600">
                <a:solidFill>
                  <a:schemeClr val="lt2"/>
                </a:solidFill>
              </a:rPr>
              <a:t>Method: </a:t>
            </a:r>
            <a:endParaRPr b="1" sz="16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Linear Support Vector Classifier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b="1" lang="en-GB" sz="1600">
                <a:solidFill>
                  <a:schemeClr val="lt2"/>
                </a:solidFill>
              </a:rPr>
              <a:t>Result:</a:t>
            </a:r>
            <a:br>
              <a:rPr b="1" lang="en-GB" sz="1600">
                <a:solidFill>
                  <a:schemeClr val="lt2"/>
                </a:solidFill>
              </a:rPr>
            </a:br>
            <a:endParaRPr b="1" sz="1600">
              <a:solidFill>
                <a:schemeClr val="lt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High overall accuracy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GB">
                <a:solidFill>
                  <a:schemeClr val="lt1"/>
                </a:solidFill>
              </a:rPr>
              <a:t>Neutral Recall = 0.00</a:t>
            </a:r>
            <a:br>
              <a:rPr lang="en-GB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➢"/>
            </a:pPr>
            <a:r>
              <a:rPr b="1" lang="en-GB" sz="1600">
                <a:solidFill>
                  <a:schemeClr val="lt2"/>
                </a:solidFill>
              </a:rPr>
              <a:t>Issue: </a:t>
            </a:r>
            <a:endParaRPr b="1" sz="16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Strong majority class bias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88" name="Google Shape;788;p85"/>
          <p:cNvCxnSpPr/>
          <p:nvPr/>
        </p:nvCxnSpPr>
        <p:spPr>
          <a:xfrm>
            <a:off x="1227187" y="75537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86"/>
          <p:cNvSpPr txBox="1"/>
          <p:nvPr>
            <p:ph type="title"/>
          </p:nvPr>
        </p:nvSpPr>
        <p:spPr>
          <a:xfrm>
            <a:off x="2257350" y="192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Challenge 2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4" name="Google Shape;794;p86"/>
          <p:cNvSpPr txBox="1"/>
          <p:nvPr>
            <p:ph idx="1" type="body"/>
          </p:nvPr>
        </p:nvSpPr>
        <p:spPr>
          <a:xfrm>
            <a:off x="347825" y="919200"/>
            <a:ext cx="3700500" cy="3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2"/>
                </a:solidFill>
              </a:rPr>
              <a:t>Why standard SVM fails?!</a:t>
            </a:r>
            <a:endParaRPr sz="1500">
              <a:solidFill>
                <a:schemeClr val="lt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❏"/>
            </a:pPr>
            <a:r>
              <a:rPr lang="en-GB" sz="1300"/>
              <a:t>Optimizes global accuracy</a:t>
            </a:r>
            <a:br>
              <a:rPr lang="en-GB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❏"/>
            </a:pPr>
            <a:r>
              <a:rPr lang="en-GB" sz="1300"/>
              <a:t>Biased toward majority class</a:t>
            </a:r>
            <a:br>
              <a:rPr lang="en-GB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❏"/>
            </a:pPr>
            <a:r>
              <a:rPr lang="en-GB" sz="1300"/>
              <a:t>Ignores neutral sentiment features</a:t>
            </a:r>
            <a:br>
              <a:rPr lang="en-GB" sz="1300"/>
            </a:b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5" name="Google Shape;79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250" y="1401275"/>
            <a:ext cx="4224299" cy="258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700" y="2618700"/>
            <a:ext cx="3437099" cy="2310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7" name="Google Shape;797;p86"/>
          <p:cNvCxnSpPr/>
          <p:nvPr/>
        </p:nvCxnSpPr>
        <p:spPr>
          <a:xfrm>
            <a:off x="3190499" y="838347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7"/>
          <p:cNvSpPr txBox="1"/>
          <p:nvPr>
            <p:ph type="title"/>
          </p:nvPr>
        </p:nvSpPr>
        <p:spPr>
          <a:xfrm>
            <a:off x="904975" y="371275"/>
            <a:ext cx="46392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Cost-Sensitive SVM (CSV_COST)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87"/>
          <p:cNvSpPr txBox="1"/>
          <p:nvPr>
            <p:ph idx="2" type="body"/>
          </p:nvPr>
        </p:nvSpPr>
        <p:spPr>
          <a:xfrm>
            <a:off x="5037525" y="949750"/>
            <a:ext cx="3808800" cy="38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➢"/>
            </a:pPr>
            <a:r>
              <a:rPr b="1" lang="en-GB"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Added class weights (class_weight = balanced)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➢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Penalized minority class errors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➢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Improvement: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Negative class performance increased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➢"/>
            </a:pPr>
            <a:r>
              <a:rPr b="1" lang="en-GB"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Limitation: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Neutral class still not recovered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4" name="Google Shape;80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25" y="1152125"/>
            <a:ext cx="4277725" cy="3649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5" name="Google Shape;805;p87"/>
          <p:cNvCxnSpPr/>
          <p:nvPr/>
        </p:nvCxnSpPr>
        <p:spPr>
          <a:xfrm>
            <a:off x="1191024" y="871897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8"/>
          <p:cNvSpPr txBox="1"/>
          <p:nvPr>
            <p:ph type="title"/>
          </p:nvPr>
        </p:nvSpPr>
        <p:spPr>
          <a:xfrm>
            <a:off x="-75" y="79525"/>
            <a:ext cx="9144000" cy="7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SMOTE (Data Balancing)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88"/>
          <p:cNvSpPr txBox="1"/>
          <p:nvPr>
            <p:ph idx="2" type="body"/>
          </p:nvPr>
        </p:nvSpPr>
        <p:spPr>
          <a:xfrm>
            <a:off x="6046400" y="894550"/>
            <a:ext cx="27999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Arial"/>
                <a:ea typeface="Arial"/>
                <a:cs typeface="Arial"/>
                <a:sym typeface="Arial"/>
              </a:rPr>
              <a:t>Synthetic Minority Over-sampling Technique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Arial"/>
                <a:ea typeface="Arial"/>
                <a:cs typeface="Arial"/>
                <a:sym typeface="Arial"/>
              </a:rPr>
              <a:t>Generates artificial Neutral samples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endParaRPr b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First recovery of Neutral Recall (0.04)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endParaRPr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Data imbalance was a core issue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2" name="Google Shape;812;p88"/>
          <p:cNvPicPr preferRelativeResize="0"/>
          <p:nvPr/>
        </p:nvPicPr>
        <p:blipFill rotWithShape="1">
          <a:blip r:embed="rId3">
            <a:alphaModFix/>
          </a:blip>
          <a:srcRect b="-4300" l="0" r="0" t="-10681"/>
          <a:stretch/>
        </p:blipFill>
        <p:spPr>
          <a:xfrm>
            <a:off x="67075" y="429199"/>
            <a:ext cx="3648049" cy="232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1575" y="2662275"/>
            <a:ext cx="4077250" cy="2353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4" name="Google Shape;814;p88"/>
          <p:cNvCxnSpPr/>
          <p:nvPr/>
        </p:nvCxnSpPr>
        <p:spPr>
          <a:xfrm>
            <a:off x="3190424" y="603647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89"/>
          <p:cNvSpPr txBox="1"/>
          <p:nvPr>
            <p:ph type="title"/>
          </p:nvPr>
        </p:nvSpPr>
        <p:spPr>
          <a:xfrm>
            <a:off x="489175" y="4072975"/>
            <a:ext cx="5305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SGD for Scalability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0" name="Google Shape;820;p89"/>
          <p:cNvSpPr txBox="1"/>
          <p:nvPr>
            <p:ph idx="2" type="body"/>
          </p:nvPr>
        </p:nvSpPr>
        <p:spPr>
          <a:xfrm>
            <a:off x="4164425" y="3037825"/>
            <a:ext cx="4653900" cy="19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➢"/>
            </a:pPr>
            <a:r>
              <a:rPr lang="en-GB" sz="1100"/>
              <a:t>Stochastic Gradient Descent with hinge loss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➢"/>
            </a:pPr>
            <a:r>
              <a:rPr lang="en-GB" sz="1100"/>
              <a:t>Handles millions of samples efficiently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➢"/>
            </a:pPr>
            <a:r>
              <a:rPr lang="en-GB" sz="1100"/>
              <a:t>Training time reduced:</a:t>
            </a:r>
            <a:br>
              <a:rPr lang="en-GB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-GB" sz="1100"/>
              <a:t>Hours → Minutes</a:t>
            </a:r>
            <a:br>
              <a:rPr lang="en-GB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ontserrat"/>
              <a:buChar char="➢"/>
            </a:pPr>
            <a:r>
              <a:rPr lang="en-GB" sz="1100"/>
              <a:t>Maintains SVM-like decision boundaries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821" name="Google Shape;82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550" y="265000"/>
            <a:ext cx="5270925" cy="2611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2" name="Google Shape;822;p89"/>
          <p:cNvCxnSpPr/>
          <p:nvPr/>
        </p:nvCxnSpPr>
        <p:spPr>
          <a:xfrm>
            <a:off x="580774" y="4543672"/>
            <a:ext cx="2763000" cy="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90"/>
          <p:cNvSpPr txBox="1"/>
          <p:nvPr>
            <p:ph type="title"/>
          </p:nvPr>
        </p:nvSpPr>
        <p:spPr>
          <a:xfrm>
            <a:off x="582200" y="210675"/>
            <a:ext cx="80670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Final Hybrid Model</a:t>
            </a:r>
            <a:endParaRPr b="1"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800">
                <a:solidFill>
                  <a:srgbClr val="FFAB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b="1" i="1" lang="en-GB" sz="1800">
                <a:solidFill>
                  <a:srgbClr val="FFAB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"Neutral Recall" Breakthrough Indicates Successful Feature Engineering</a:t>
            </a:r>
            <a:endParaRPr b="1" i="1"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90"/>
          <p:cNvSpPr txBox="1"/>
          <p:nvPr>
            <p:ph idx="2" type="body"/>
          </p:nvPr>
        </p:nvSpPr>
        <p:spPr>
          <a:xfrm>
            <a:off x="6626100" y="1239900"/>
            <a:ext cx="2517900" cy="3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➢"/>
            </a:pPr>
            <a:r>
              <a:rPr b="1" lang="en-GB"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SMOTE + SGD + Hybrid Features</a:t>
            </a:r>
            <a:endParaRPr b="1" sz="15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TF-IDF + Sentiment Lexicons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r>
              <a:rPr lang="en-GB">
                <a:latin typeface="Arial"/>
                <a:ea typeface="Arial"/>
                <a:cs typeface="Arial"/>
                <a:sym typeface="Arial"/>
              </a:rPr>
              <a:t>Best overall balance</a:t>
            </a:r>
            <a:br>
              <a:rPr lang="en-GB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➢"/>
            </a:pPr>
            <a:r>
              <a:rPr b="1" lang="en-GB"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Results:</a:t>
            </a:r>
            <a:br>
              <a:rPr lang="en-GB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Neutral Recall: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0.11</a:t>
            </a:r>
            <a:br>
              <a:rPr b="1" lang="en-GB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Macro-F1: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0.42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9" name="Google Shape;82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00" y="1355550"/>
            <a:ext cx="3636751" cy="368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0850" y="1357300"/>
            <a:ext cx="2828700" cy="36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1"/>
          <p:cNvSpPr txBox="1"/>
          <p:nvPr>
            <p:ph type="title"/>
          </p:nvPr>
        </p:nvSpPr>
        <p:spPr>
          <a:xfrm>
            <a:off x="741150" y="124325"/>
            <a:ext cx="67485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performance of different sentiment classification models using Neutral Recall and Macro-F1 score, </a:t>
            </a:r>
            <a:endParaRPr sz="3100">
              <a:solidFill>
                <a:schemeClr val="lt2"/>
              </a:solidFill>
            </a:endParaRPr>
          </a:p>
        </p:txBody>
      </p:sp>
      <p:pic>
        <p:nvPicPr>
          <p:cNvPr id="836" name="Google Shape;83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950" y="1287725"/>
            <a:ext cx="3722301" cy="3596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00" y="1201375"/>
            <a:ext cx="4004950" cy="36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92"/>
          <p:cNvSpPr txBox="1"/>
          <p:nvPr>
            <p:ph type="title"/>
          </p:nvPr>
        </p:nvSpPr>
        <p:spPr>
          <a:xfrm>
            <a:off x="938500" y="445025"/>
            <a:ext cx="73281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Arial"/>
                <a:ea typeface="Arial"/>
                <a:cs typeface="Arial"/>
                <a:sym typeface="Arial"/>
              </a:rPr>
              <a:t> Extended Sentiment Pipeline :From SVM to Deep Learning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3" name="Google Shape;84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475" y="1287725"/>
            <a:ext cx="7205100" cy="37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93"/>
          <p:cNvSpPr txBox="1"/>
          <p:nvPr>
            <p:ph type="ctrTitle"/>
          </p:nvPr>
        </p:nvSpPr>
        <p:spPr>
          <a:xfrm>
            <a:off x="1768850" y="1112575"/>
            <a:ext cx="47922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Evaluation Strategy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93"/>
          <p:cNvSpPr txBox="1"/>
          <p:nvPr>
            <p:ph idx="1" type="subTitle"/>
          </p:nvPr>
        </p:nvSpPr>
        <p:spPr>
          <a:xfrm>
            <a:off x="2037675" y="1803300"/>
            <a:ext cx="5062200" cy="30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Focus on Fairness, Not Accuracy</a:t>
            </a:r>
            <a:endParaRPr b="1"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❏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Macro-Averaged F1 Score</a:t>
            </a:r>
            <a:b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❏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Normalized Confusion Matrices</a:t>
            </a:r>
            <a:b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❏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Prevents majority class dominance in evaluation</a:t>
            </a:r>
            <a:b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94"/>
          <p:cNvSpPr txBox="1"/>
          <p:nvPr>
            <p:ph type="ctrTitle"/>
          </p:nvPr>
        </p:nvSpPr>
        <p:spPr>
          <a:xfrm>
            <a:off x="1019900" y="974275"/>
            <a:ext cx="7333200" cy="3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➢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Standard SVM is 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blind to Neutral sentiment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➢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SMOTE enables minority class visibility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➢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SGD ensures </a:t>
            </a:r>
            <a:r>
              <a:rPr lang="en-GB" sz="1600">
                <a:latin typeface="Arial"/>
                <a:ea typeface="Arial"/>
                <a:cs typeface="Arial"/>
                <a:sym typeface="Arial"/>
              </a:rPr>
              <a:t>scalability</a:t>
            </a:r>
            <a:br>
              <a:rPr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➢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Hybrid model balances: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○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Performance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○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Fairness</a:t>
            </a:r>
            <a:br>
              <a:rPr b="0" lang="en-GB" sz="1600">
                <a:latin typeface="Arial"/>
                <a:ea typeface="Arial"/>
                <a:cs typeface="Arial"/>
                <a:sym typeface="Arial"/>
              </a:rPr>
            </a:b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○"/>
            </a:pPr>
            <a:r>
              <a:rPr b="0" lang="en-GB" sz="1600">
                <a:latin typeface="Arial"/>
                <a:ea typeface="Arial"/>
                <a:cs typeface="Arial"/>
                <a:sym typeface="Arial"/>
              </a:rPr>
              <a:t>Computational efficiency</a:t>
            </a:r>
            <a:endParaRPr b="0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94"/>
          <p:cNvSpPr txBox="1"/>
          <p:nvPr/>
        </p:nvSpPr>
        <p:spPr>
          <a:xfrm>
            <a:off x="2096875" y="3577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2100">
                <a:solidFill>
                  <a:schemeClr val="lt2"/>
                </a:solidFill>
              </a:rPr>
              <a:t>Key Findings</a:t>
            </a:r>
            <a:endParaRPr b="1" sz="21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95"/>
          <p:cNvSpPr txBox="1"/>
          <p:nvPr>
            <p:ph type="ctrTitle"/>
          </p:nvPr>
        </p:nvSpPr>
        <p:spPr>
          <a:xfrm>
            <a:off x="1879850" y="580975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3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95"/>
          <p:cNvSpPr txBox="1"/>
          <p:nvPr>
            <p:ph idx="1" type="subTitle"/>
          </p:nvPr>
        </p:nvSpPr>
        <p:spPr>
          <a:xfrm>
            <a:off x="1210800" y="1553850"/>
            <a:ext cx="67224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 imbalance severely degrades sentiment models</a:t>
            </a:r>
            <a:b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Explicit balancing + scalable optimization is essential</a:t>
            </a:r>
            <a:b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Hybrid SMOTE + SGD:</a:t>
            </a:r>
            <a:br>
              <a:rPr b="1" lang="en-GB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Improves fairness</a:t>
            </a:r>
            <a:b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Maintains scalability</a:t>
            </a:r>
            <a:br>
              <a:rPr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Strong alternative to deep learning for big data</a:t>
            </a:r>
            <a:endParaRPr i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633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96"/>
          <p:cNvSpPr txBox="1"/>
          <p:nvPr>
            <p:ph type="title"/>
          </p:nvPr>
        </p:nvSpPr>
        <p:spPr>
          <a:xfrm>
            <a:off x="3863825" y="3253300"/>
            <a:ext cx="38979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Neural Networks and Ensemble Methods</a:t>
            </a:r>
            <a:endParaRPr sz="2500">
              <a:solidFill>
                <a:srgbClr val="FF9900"/>
              </a:solidFill>
            </a:endParaRPr>
          </a:p>
        </p:txBody>
      </p:sp>
      <p:sp>
        <p:nvSpPr>
          <p:cNvPr id="867" name="Google Shape;867;p96"/>
          <p:cNvSpPr txBox="1"/>
          <p:nvPr/>
        </p:nvSpPr>
        <p:spPr>
          <a:xfrm>
            <a:off x="2037675" y="3157650"/>
            <a:ext cx="13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05</a:t>
            </a:r>
            <a:endParaRPr sz="60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868" name="Google Shape;868;p96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869" name="Google Shape;869;p96"/>
          <p:cNvSpPr txBox="1"/>
          <p:nvPr>
            <p:ph idx="1" type="subTitle"/>
          </p:nvPr>
        </p:nvSpPr>
        <p:spPr>
          <a:xfrm>
            <a:off x="4132695" y="4066025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en-GB" sz="1500"/>
              <a:t>Noha Ismail</a:t>
            </a:r>
            <a:endParaRPr sz="15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Google Shape;87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0475" y="272525"/>
            <a:ext cx="4224276" cy="199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97"/>
          <p:cNvPicPr preferRelativeResize="0"/>
          <p:nvPr/>
        </p:nvPicPr>
        <p:blipFill rotWithShape="1">
          <a:blip r:embed="rId4">
            <a:alphaModFix/>
          </a:blip>
          <a:srcRect b="0" l="0" r="40047" t="0"/>
          <a:stretch/>
        </p:blipFill>
        <p:spPr>
          <a:xfrm>
            <a:off x="428725" y="206750"/>
            <a:ext cx="3349226" cy="21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97"/>
          <p:cNvSpPr txBox="1"/>
          <p:nvPr>
            <p:ph type="title"/>
          </p:nvPr>
        </p:nvSpPr>
        <p:spPr>
          <a:xfrm>
            <a:off x="1677850" y="241475"/>
            <a:ext cx="1195800" cy="5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2100">
              <a:solidFill>
                <a:srgbClr val="FF9900"/>
              </a:solidFill>
            </a:endParaRPr>
          </a:p>
        </p:txBody>
      </p:sp>
      <p:sp>
        <p:nvSpPr>
          <p:cNvPr id="877" name="Google Shape;877;p97"/>
          <p:cNvSpPr txBox="1"/>
          <p:nvPr>
            <p:ph type="title"/>
          </p:nvPr>
        </p:nvSpPr>
        <p:spPr>
          <a:xfrm>
            <a:off x="5572225" y="-57125"/>
            <a:ext cx="2021100" cy="4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2100">
              <a:solidFill>
                <a:srgbClr val="FF9900"/>
              </a:solidFill>
            </a:endParaRPr>
          </a:p>
        </p:txBody>
      </p:sp>
      <p:pic>
        <p:nvPicPr>
          <p:cNvPr id="878" name="Google Shape;87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7725" y="2519700"/>
            <a:ext cx="5135299" cy="217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97"/>
          <p:cNvSpPr txBox="1"/>
          <p:nvPr>
            <p:ph type="title"/>
          </p:nvPr>
        </p:nvSpPr>
        <p:spPr>
          <a:xfrm>
            <a:off x="107800" y="3478025"/>
            <a:ext cx="1778100" cy="4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Initial Results</a:t>
            </a:r>
            <a:endParaRPr sz="21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8"/>
          <p:cNvSpPr txBox="1"/>
          <p:nvPr>
            <p:ph type="title"/>
          </p:nvPr>
        </p:nvSpPr>
        <p:spPr>
          <a:xfrm>
            <a:off x="957825" y="3817075"/>
            <a:ext cx="70518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2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(1) How do SBERT embeddings compare to TF-IDF features for sentiment classification? </a:t>
            </a:r>
            <a:br>
              <a:rPr lang="en-GB" sz="1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(2) Why do certain algorithms fail on imbalanced sentiment data? </a:t>
            </a:r>
            <a:br>
              <a:rPr lang="en-GB" sz="1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5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(3) Do sentiment classes form natural clusters in the embedding space?</a:t>
            </a:r>
            <a:endParaRPr sz="15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5" name="Google Shape;885;p98"/>
          <p:cNvSpPr txBox="1"/>
          <p:nvPr/>
        </p:nvSpPr>
        <p:spPr>
          <a:xfrm>
            <a:off x="2294175" y="2253225"/>
            <a:ext cx="4379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Let's divide our problem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625" y="1132624"/>
            <a:ext cx="7854774" cy="27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99"/>
          <p:cNvSpPr txBox="1"/>
          <p:nvPr>
            <p:ph idx="4294967295" type="title"/>
          </p:nvPr>
        </p:nvSpPr>
        <p:spPr>
          <a:xfrm>
            <a:off x="1199150" y="3739050"/>
            <a:ext cx="7745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lang="en-GB" sz="1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computational</a:t>
            </a:r>
            <a:r>
              <a:rPr b="1" lang="en-GB" sz="1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resources these models were tested on subset of the  dataset </a:t>
            </a:r>
            <a:endParaRPr b="1" sz="17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99"/>
          <p:cNvSpPr txBox="1"/>
          <p:nvPr>
            <p:ph idx="4294967295" type="title"/>
          </p:nvPr>
        </p:nvSpPr>
        <p:spPr>
          <a:xfrm>
            <a:off x="902050" y="-94975"/>
            <a:ext cx="77457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Transformer-based embeddings that capture contextual and semantic information</a:t>
            </a:r>
            <a:endParaRPr b="1" sz="17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929" y="266600"/>
            <a:ext cx="5788147" cy="30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100"/>
          <p:cNvSpPr txBox="1"/>
          <p:nvPr/>
        </p:nvSpPr>
        <p:spPr>
          <a:xfrm>
            <a:off x="408400" y="3422350"/>
            <a:ext cx="6529200" cy="1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2"/>
                </a:solidFill>
              </a:rPr>
              <a:t>Five classification algorithms were evaluated: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b="1" lang="en-GB" sz="1100">
                <a:solidFill>
                  <a:schemeClr val="lt2"/>
                </a:solidFill>
              </a:rPr>
              <a:t>Extra Trees Classifier: </a:t>
            </a:r>
            <a:r>
              <a:rPr lang="en-GB" sz="1100">
                <a:solidFill>
                  <a:schemeClr val="lt2"/>
                </a:solidFill>
              </a:rPr>
              <a:t>n_estimators=100, max_depth=20, class_weight='balanced'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b="1" lang="en-GB" sz="1100">
                <a:solidFill>
                  <a:schemeClr val="lt2"/>
                </a:solidFill>
              </a:rPr>
              <a:t>Random Forest: </a:t>
            </a:r>
            <a:r>
              <a:rPr lang="en-GB" sz="1100">
                <a:solidFill>
                  <a:schemeClr val="lt2"/>
                </a:solidFill>
              </a:rPr>
              <a:t>n_estimators=200, max_depth=30, class_weight='balanced'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b="1" lang="en-GB" sz="1100">
                <a:solidFill>
                  <a:schemeClr val="lt2"/>
                </a:solidFill>
              </a:rPr>
              <a:t>Neural Network (MLP): </a:t>
            </a:r>
            <a:r>
              <a:rPr lang="en-GB" sz="1100">
                <a:solidFill>
                  <a:schemeClr val="lt2"/>
                </a:solidFill>
              </a:rPr>
              <a:t>hidden_layers=(512, 256, 128), early_stopping=True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b="1" lang="en-GB" sz="1100">
                <a:solidFill>
                  <a:schemeClr val="lt2"/>
                </a:solidFill>
              </a:rPr>
              <a:t>XGBoost: </a:t>
            </a:r>
            <a:r>
              <a:rPr lang="en-GB" sz="1100">
                <a:solidFill>
                  <a:schemeClr val="lt2"/>
                </a:solidFill>
              </a:rPr>
              <a:t>n_estimators=200, GPU-accelerated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AutoNum type="arabicPeriod"/>
            </a:pPr>
            <a:r>
              <a:rPr b="1" lang="en-GB" sz="1100">
                <a:solidFill>
                  <a:schemeClr val="lt2"/>
                </a:solidFill>
              </a:rPr>
              <a:t>LightGBM: </a:t>
            </a:r>
            <a:r>
              <a:rPr lang="en-GB" sz="1100">
                <a:solidFill>
                  <a:schemeClr val="lt2"/>
                </a:solidFill>
              </a:rPr>
              <a:t>n_estimators=200, num_leaves=31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899" name="Google Shape;899;p100"/>
          <p:cNvSpPr txBox="1"/>
          <p:nvPr/>
        </p:nvSpPr>
        <p:spPr>
          <a:xfrm>
            <a:off x="6937600" y="555450"/>
            <a:ext cx="1703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</a:rPr>
              <a:t>For computational resources these models were tested on subset of the  dataset </a:t>
            </a:r>
            <a:endParaRPr b="1" sz="17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075" y="254550"/>
            <a:ext cx="7174102" cy="451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101"/>
          <p:cNvSpPr txBox="1"/>
          <p:nvPr/>
        </p:nvSpPr>
        <p:spPr>
          <a:xfrm>
            <a:off x="3422000" y="2316850"/>
            <a:ext cx="1326600" cy="32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6" name="Google Shape;906;p101"/>
          <p:cNvSpPr txBox="1"/>
          <p:nvPr/>
        </p:nvSpPr>
        <p:spPr>
          <a:xfrm>
            <a:off x="983800" y="2345350"/>
            <a:ext cx="1150500" cy="32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7" name="Google Shape;907;p101"/>
          <p:cNvSpPr txBox="1"/>
          <p:nvPr/>
        </p:nvSpPr>
        <p:spPr>
          <a:xfrm>
            <a:off x="5844250" y="2345350"/>
            <a:ext cx="1326600" cy="32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8" name="Google Shape;908;p101"/>
          <p:cNvSpPr txBox="1"/>
          <p:nvPr/>
        </p:nvSpPr>
        <p:spPr>
          <a:xfrm>
            <a:off x="983800" y="4436150"/>
            <a:ext cx="1150500" cy="270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9" name="Google Shape;909;p101"/>
          <p:cNvSpPr txBox="1"/>
          <p:nvPr/>
        </p:nvSpPr>
        <p:spPr>
          <a:xfrm>
            <a:off x="3097075" y="2819975"/>
            <a:ext cx="492300" cy="96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425" y="3567550"/>
            <a:ext cx="5002652" cy="14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4425" y="0"/>
            <a:ext cx="5002650" cy="3459905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102"/>
          <p:cNvSpPr txBox="1"/>
          <p:nvPr/>
        </p:nvSpPr>
        <p:spPr>
          <a:xfrm>
            <a:off x="2174425" y="329550"/>
            <a:ext cx="4234800" cy="248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03"/>
          <p:cNvPicPr preferRelativeResize="0"/>
          <p:nvPr/>
        </p:nvPicPr>
        <p:blipFill rotWithShape="1">
          <a:blip r:embed="rId3">
            <a:alphaModFix/>
          </a:blip>
          <a:srcRect b="0" l="0" r="34404" t="0"/>
          <a:stretch/>
        </p:blipFill>
        <p:spPr>
          <a:xfrm>
            <a:off x="5384438" y="941250"/>
            <a:ext cx="3329376" cy="350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600" y="724800"/>
            <a:ext cx="4947676" cy="17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103"/>
          <p:cNvPicPr preferRelativeResize="0"/>
          <p:nvPr/>
        </p:nvPicPr>
        <p:blipFill rotWithShape="1">
          <a:blip r:embed="rId5">
            <a:alphaModFix/>
          </a:blip>
          <a:srcRect b="24754" l="66589" r="0" t="38578"/>
          <a:stretch/>
        </p:blipFill>
        <p:spPr>
          <a:xfrm>
            <a:off x="1427701" y="2571750"/>
            <a:ext cx="2293296" cy="153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03"/>
          <p:cNvSpPr txBox="1"/>
          <p:nvPr/>
        </p:nvSpPr>
        <p:spPr>
          <a:xfrm>
            <a:off x="1226600" y="2784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</a:rPr>
              <a:t>Using TF-IDF</a:t>
            </a:r>
            <a:endParaRPr/>
          </a:p>
        </p:txBody>
      </p:sp>
      <p:sp>
        <p:nvSpPr>
          <p:cNvPr id="925" name="Google Shape;925;p103"/>
          <p:cNvSpPr txBox="1"/>
          <p:nvPr/>
        </p:nvSpPr>
        <p:spPr>
          <a:xfrm>
            <a:off x="5512350" y="348250"/>
            <a:ext cx="288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FF9900"/>
                </a:solidFill>
              </a:rPr>
              <a:t>Using Sentence BERT</a:t>
            </a:r>
            <a:endParaRPr/>
          </a:p>
        </p:txBody>
      </p:sp>
      <p:sp>
        <p:nvSpPr>
          <p:cNvPr id="926" name="Google Shape;926;p103"/>
          <p:cNvSpPr txBox="1"/>
          <p:nvPr/>
        </p:nvSpPr>
        <p:spPr>
          <a:xfrm>
            <a:off x="5245425" y="337050"/>
            <a:ext cx="2945400" cy="446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04"/>
          <p:cNvSpPr txBox="1"/>
          <p:nvPr/>
        </p:nvSpPr>
        <p:spPr>
          <a:xfrm>
            <a:off x="577225" y="3299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9900"/>
                </a:solidFill>
              </a:rPr>
              <a:t>Conclusion</a:t>
            </a:r>
            <a:endParaRPr sz="2700"/>
          </a:p>
        </p:txBody>
      </p:sp>
      <p:sp>
        <p:nvSpPr>
          <p:cNvPr id="932" name="Google Shape;932;p104"/>
          <p:cNvSpPr txBox="1"/>
          <p:nvPr/>
        </p:nvSpPr>
        <p:spPr>
          <a:xfrm>
            <a:off x="426175" y="1236950"/>
            <a:ext cx="7982400" cy="29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681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</a:rPr>
              <a:t>This study demonstrates that Sentence-BERT embeddings with Extra Trees classifier achieve superior sentiment classification performance (85.11% accuracy, 0.8051 Macro F1) compared to traditional TF-IDF approaches. Key findings include:</a:t>
            </a:r>
            <a:endParaRPr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-GB">
                <a:solidFill>
                  <a:schemeClr val="lt2"/>
                </a:solidFill>
              </a:rPr>
              <a:t>Bagging methods (Extra Trees, Random Forest) showed dramatic improvement with SBERT embeddings (+48-51% over TF-IDF)</a:t>
            </a:r>
            <a:endParaRPr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-GB">
                <a:solidFill>
                  <a:schemeClr val="lt2"/>
                </a:solidFill>
              </a:rPr>
              <a:t>Gradient boosting algorithms (XGBoost, LightGBM) failed on the minority Neutral class due to sequential learning bias and class imbalance sensitivity</a:t>
            </a:r>
            <a:endParaRPr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-GB">
                <a:solidFill>
                  <a:schemeClr val="lt2"/>
                </a:solidFill>
              </a:rPr>
              <a:t>Dense semantic embeddings (384 dimensions) outperform sparse word-frequency vectors (3,004 dimensions) due to information density and contextual understanding</a:t>
            </a:r>
            <a:endParaRPr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-GB">
                <a:solidFill>
                  <a:schemeClr val="lt2"/>
                </a:solidFill>
              </a:rPr>
              <a:t>Sentiment classes do not form natural clusters in embedding space, confirming that sentiment is a semantic rather than geometric property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05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Team Members:</a:t>
            </a:r>
            <a:endParaRPr/>
          </a:p>
        </p:txBody>
      </p:sp>
      <p:cxnSp>
        <p:nvCxnSpPr>
          <p:cNvPr id="938" name="Google Shape;938;p10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  <p:sp>
        <p:nvSpPr>
          <p:cNvPr id="939" name="Google Shape;939;p105"/>
          <p:cNvSpPr txBox="1"/>
          <p:nvPr>
            <p:ph type="title"/>
          </p:nvPr>
        </p:nvSpPr>
        <p:spPr>
          <a:xfrm>
            <a:off x="1740422" y="3824454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Amira Elshehaby</a:t>
            </a:r>
            <a:endParaRPr/>
          </a:p>
        </p:txBody>
      </p:sp>
      <p:sp>
        <p:nvSpPr>
          <p:cNvPr id="940" name="Google Shape;940;p105"/>
          <p:cNvSpPr txBox="1"/>
          <p:nvPr>
            <p:ph idx="2" type="title"/>
          </p:nvPr>
        </p:nvSpPr>
        <p:spPr>
          <a:xfrm>
            <a:off x="3554500" y="27784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Mustafa Abou Khatwa</a:t>
            </a:r>
            <a:endParaRPr/>
          </a:p>
        </p:txBody>
      </p:sp>
      <p:sp>
        <p:nvSpPr>
          <p:cNvPr id="941" name="Google Shape;941;p105"/>
          <p:cNvSpPr txBox="1"/>
          <p:nvPr>
            <p:ph idx="5" type="title"/>
          </p:nvPr>
        </p:nvSpPr>
        <p:spPr>
          <a:xfrm>
            <a:off x="73900" y="2737536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en-GB"/>
              <a:t>Noha Ismail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42" name="Google Shape;942;p105"/>
          <p:cNvSpPr/>
          <p:nvPr/>
        </p:nvSpPr>
        <p:spPr>
          <a:xfrm>
            <a:off x="765103" y="1856711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105"/>
          <p:cNvSpPr/>
          <p:nvPr/>
        </p:nvSpPr>
        <p:spPr>
          <a:xfrm>
            <a:off x="2431622" y="2943629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05"/>
          <p:cNvSpPr/>
          <p:nvPr/>
        </p:nvSpPr>
        <p:spPr>
          <a:xfrm>
            <a:off x="4245697" y="18976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05"/>
          <p:cNvSpPr/>
          <p:nvPr/>
        </p:nvSpPr>
        <p:spPr>
          <a:xfrm>
            <a:off x="4376049" y="2034950"/>
            <a:ext cx="423884" cy="409986"/>
          </a:xfrm>
          <a:custGeom>
            <a:rect b="b" l="l" r="r" t="t"/>
            <a:pathLst>
              <a:path extrusionOk="0" h="11033" w="11407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6" name="Google Shape;946;p105"/>
          <p:cNvGrpSpPr/>
          <p:nvPr/>
        </p:nvGrpSpPr>
        <p:grpSpPr>
          <a:xfrm>
            <a:off x="2610863" y="3073986"/>
            <a:ext cx="326106" cy="423908"/>
            <a:chOff x="3990517" y="3354173"/>
            <a:chExt cx="279559" cy="363402"/>
          </a:xfrm>
        </p:grpSpPr>
        <p:sp>
          <p:nvSpPr>
            <p:cNvPr id="947" name="Google Shape;947;p105"/>
            <p:cNvSpPr/>
            <p:nvPr/>
          </p:nvSpPr>
          <p:spPr>
            <a:xfrm>
              <a:off x="3990517" y="3354173"/>
              <a:ext cx="279559" cy="363402"/>
            </a:xfrm>
            <a:custGeom>
              <a:rect b="b" l="l" r="r" t="t"/>
              <a:pathLst>
                <a:path extrusionOk="0" h="11408" w="8776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05"/>
            <p:cNvSpPr/>
            <p:nvPr/>
          </p:nvSpPr>
          <p:spPr>
            <a:xfrm>
              <a:off x="4102009" y="3418680"/>
              <a:ext cx="36824" cy="37175"/>
            </a:xfrm>
            <a:custGeom>
              <a:rect b="b" l="l" r="r" t="t"/>
              <a:pathLst>
                <a:path extrusionOk="0" h="1167" w="1156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5"/>
            <p:cNvSpPr/>
            <p:nvPr/>
          </p:nvSpPr>
          <p:spPr>
            <a:xfrm>
              <a:off x="4083820" y="3615129"/>
              <a:ext cx="37175" cy="36824"/>
            </a:xfrm>
            <a:custGeom>
              <a:rect b="b" l="l" r="r" t="t"/>
              <a:pathLst>
                <a:path extrusionOk="0" h="1156" w="1167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0" name="Google Shape;950;p105"/>
          <p:cNvGrpSpPr/>
          <p:nvPr/>
        </p:nvGrpSpPr>
        <p:grpSpPr>
          <a:xfrm>
            <a:off x="886070" y="1985521"/>
            <a:ext cx="442673" cy="426992"/>
            <a:chOff x="1284212" y="1963766"/>
            <a:chExt cx="379489" cy="366046"/>
          </a:xfrm>
        </p:grpSpPr>
        <p:sp>
          <p:nvSpPr>
            <p:cNvPr id="951" name="Google Shape;951;p105"/>
            <p:cNvSpPr/>
            <p:nvPr/>
          </p:nvSpPr>
          <p:spPr>
            <a:xfrm>
              <a:off x="1436861" y="2112975"/>
              <a:ext cx="69444" cy="68902"/>
            </a:xfrm>
            <a:custGeom>
              <a:rect b="b" l="l" r="r" t="t"/>
              <a:pathLst>
                <a:path extrusionOk="0" h="2163" w="218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05"/>
            <p:cNvSpPr/>
            <p:nvPr/>
          </p:nvSpPr>
          <p:spPr>
            <a:xfrm>
              <a:off x="1284212" y="1963766"/>
              <a:ext cx="379489" cy="366046"/>
            </a:xfrm>
            <a:custGeom>
              <a:rect b="b" l="l" r="r" t="t"/>
              <a:pathLst>
                <a:path extrusionOk="0" h="11491" w="11913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3" name="Google Shape;953;p105"/>
          <p:cNvSpPr/>
          <p:nvPr/>
        </p:nvSpPr>
        <p:spPr>
          <a:xfrm>
            <a:off x="6027775" y="2943629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05"/>
          <p:cNvSpPr/>
          <p:nvPr/>
        </p:nvSpPr>
        <p:spPr>
          <a:xfrm>
            <a:off x="6158127" y="3080929"/>
            <a:ext cx="423884" cy="409986"/>
          </a:xfrm>
          <a:custGeom>
            <a:rect b="b" l="l" r="r" t="t"/>
            <a:pathLst>
              <a:path extrusionOk="0" h="11033" w="11407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05"/>
          <p:cNvSpPr/>
          <p:nvPr/>
        </p:nvSpPr>
        <p:spPr>
          <a:xfrm>
            <a:off x="7658037" y="18976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05"/>
          <p:cNvSpPr/>
          <p:nvPr/>
        </p:nvSpPr>
        <p:spPr>
          <a:xfrm>
            <a:off x="7788389" y="2034950"/>
            <a:ext cx="423884" cy="409986"/>
          </a:xfrm>
          <a:custGeom>
            <a:rect b="b" l="l" r="r" t="t"/>
            <a:pathLst>
              <a:path extrusionOk="0" h="11033" w="11407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05"/>
          <p:cNvSpPr txBox="1"/>
          <p:nvPr>
            <p:ph idx="2" type="title"/>
          </p:nvPr>
        </p:nvSpPr>
        <p:spPr>
          <a:xfrm>
            <a:off x="5336575" y="3824450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Ahmed Gomaa</a:t>
            </a:r>
            <a:endParaRPr/>
          </a:p>
        </p:txBody>
      </p:sp>
      <p:sp>
        <p:nvSpPr>
          <p:cNvPr id="958" name="Google Shape;958;p105"/>
          <p:cNvSpPr txBox="1"/>
          <p:nvPr>
            <p:ph idx="2" type="title"/>
          </p:nvPr>
        </p:nvSpPr>
        <p:spPr>
          <a:xfrm>
            <a:off x="6966838" y="27784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Mohamed Mourad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06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THANKS!</a:t>
            </a:r>
            <a:endParaRPr/>
          </a:p>
        </p:txBody>
      </p:sp>
      <p:cxnSp>
        <p:nvCxnSpPr>
          <p:cNvPr id="964" name="Google Shape;964;p106"/>
          <p:cNvCxnSpPr/>
          <p:nvPr/>
        </p:nvCxnSpPr>
        <p:spPr>
          <a:xfrm>
            <a:off x="1013400" y="14887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49800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5">
      <a:dk1>
        <a:srgbClr val="282F39"/>
      </a:dk1>
      <a:lt1>
        <a:srgbClr val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